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213" y="784501"/>
            <a:ext cx="8029575" cy="3574498"/>
          </a:xfrm>
          <a:prstGeom prst="rect">
            <a:avLst/>
          </a:prstGeom>
          <a:solidFill>
            <a:srgbClr val="0D0D0D">
              <a:alpha val="80000"/>
            </a:srgbClr>
          </a:solidFill>
          <a:ln w="18288">
            <a:solidFill>
              <a:srgbClr val="00FF4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0125" y="1437987"/>
            <a:ext cx="714375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26" b="1" spc="2" kern="0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AVALIAÇÃO COMPARATIVA DE ESTRATÉGIAS DE CHUNKING EM DOCUMENTOS INSTITUCIONAIS BRASILEIROS</a:t>
            </a:r>
            <a:endParaRPr lang="en-US" sz="2226" dirty="0"/>
          </a:p>
        </p:txBody>
      </p:sp>
      <p:sp>
        <p:nvSpPr>
          <p:cNvPr id="5" name="Text 2"/>
          <p:cNvSpPr/>
          <p:nvPr/>
        </p:nvSpPr>
        <p:spPr>
          <a:xfrm>
            <a:off x="2068116" y="2883815"/>
            <a:ext cx="5007769" cy="169664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 Baseado em RAG e LLMs para Busca Semântica Inteligente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1000125" y="3453529"/>
            <a:ext cx="714375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Equipe 7: Tiago Cardoso Soares &amp; Alan Tulio Lino Gonçalves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000125" y="3908943"/>
            <a:ext cx="71437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 ARTIFICIAL GENERATIVA | PROF. MARCELO RODRIGO DE SOUZA PITA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DESAFIO DA CONSULTA NORMATIVA NO SETOR PÚBLICO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DIAGNÓSTICO DO PROBLEMA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28688" y="1777426"/>
            <a:ext cx="3286125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Vastos Volumes: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Agências (EMBRAPII, CNPq) gerenciam manuais, códigos de ética e regimentos extensos.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928688" y="2498945"/>
            <a:ext cx="3286125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Ineficiência: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Consultas manuais exaustivas para esclarecer procedimentos, requisitos e penalidades.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928688" y="3220464"/>
            <a:ext cx="3286125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Gargalo Técnico: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qualidade da resposta depende criticamente da segmentação (chunking) dos documentos.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8688" y="1813145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928688" y="2534664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928688" y="3256183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SOLUÇÃO RAG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14938" y="1777426"/>
            <a:ext cx="3286125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Semântica: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Respostas fundamentadas em linguagem natural a partir de documentos externos.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214938" y="2498945"/>
            <a:ext cx="3286125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 Estratégica: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Automatização de consultas sobre normas institucionais e apoio à decisão.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214938" y="3220464"/>
            <a:ext cx="3286125" cy="57864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Objetivo:</a:t>
            </a: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Avaliar qual estratégia de chunking oferece melhor qualidade de recuperação e geração.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214938" y="1813145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5214938" y="2534664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5214938" y="3256183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CORPUS DE DOCUMENTOS E ESTATÍSTICAS DO RAG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DOCUMENTOS PROCESSADOS (PDF)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57275" y="1813145"/>
            <a:ext cx="3157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 de Operação EMBRAPII v6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1057275" y="1925659"/>
            <a:ext cx="3157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 PÁGINAS | REGRAS OPERACIONAIS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1057275" y="2181048"/>
            <a:ext cx="3157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de Conduta Ética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1057275" y="2293562"/>
            <a:ext cx="3157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PÁGINAS | NORMAS DE CONDUTA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1057275" y="2548951"/>
            <a:ext cx="3157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Regimento do Comitê de Ética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1057275" y="2661465"/>
            <a:ext cx="3157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 PÁGINAS | PROCEDIMENTOS DE APURAÇÃO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642938" y="3202605"/>
            <a:ext cx="357187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TERMOS CHAVE ]</a:t>
            </a:r>
            <a:r>
              <a:rPr lang="en-US" sz="727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727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 | CHUNKING | COMPLIANCE | LATTES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003B00">
              <a:alpha val="1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MÉTRICAS DE PROCESSAMENTO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43488" y="1963164"/>
            <a:ext cx="148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~65K</a:t>
            </a:r>
            <a:endParaRPr lang="en-US" sz="1704" dirty="0"/>
          </a:p>
        </p:txBody>
      </p:sp>
      <p:sp>
        <p:nvSpPr>
          <p:cNvPr id="18" name="Text 15"/>
          <p:cNvSpPr/>
          <p:nvPr/>
        </p:nvSpPr>
        <p:spPr>
          <a:xfrm>
            <a:off x="5043488" y="2227483"/>
            <a:ext cx="14859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PALAVRAS TOTAIS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6900863" y="1963164"/>
            <a:ext cx="148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~8.5K</a:t>
            </a:r>
            <a:endParaRPr lang="en-US" sz="1704" dirty="0"/>
          </a:p>
        </p:txBody>
      </p:sp>
      <p:sp>
        <p:nvSpPr>
          <p:cNvPr id="20" name="Text 17"/>
          <p:cNvSpPr/>
          <p:nvPr/>
        </p:nvSpPr>
        <p:spPr>
          <a:xfrm>
            <a:off x="6900863" y="2227483"/>
            <a:ext cx="14859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PALAVRAS ÚNICAS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5043488" y="2941858"/>
            <a:ext cx="148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~3.2K</a:t>
            </a:r>
            <a:endParaRPr lang="en-US" sz="1704" dirty="0"/>
          </a:p>
        </p:txBody>
      </p:sp>
      <p:sp>
        <p:nvSpPr>
          <p:cNvPr id="22" name="Text 19"/>
          <p:cNvSpPr/>
          <p:nvPr/>
        </p:nvSpPr>
        <p:spPr>
          <a:xfrm>
            <a:off x="5043488" y="3206176"/>
            <a:ext cx="14859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FRASES / SENTENÇAS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6900863" y="2941858"/>
            <a:ext cx="148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704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~450</a:t>
            </a:r>
            <a:endParaRPr lang="en-US" sz="1704" dirty="0"/>
          </a:p>
        </p:txBody>
      </p:sp>
      <p:sp>
        <p:nvSpPr>
          <p:cNvPr id="24" name="Text 21"/>
          <p:cNvSpPr/>
          <p:nvPr/>
        </p:nvSpPr>
        <p:spPr>
          <a:xfrm>
            <a:off x="6900863" y="3206176"/>
            <a:ext cx="14859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CHUNKS (MÉDIA/ESTRAT)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4929188" y="4049139"/>
            <a:ext cx="3571875" cy="21788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SISTEMA DE INDEXAÇÃO VETORIAL v2.0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GOLDEN SET: 231 PERGUNTAS DE ALTA FIDELIDADE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23773"/>
            <a:ext cx="8286750" cy="1975247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266648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DISTRIBUIÇÃO POR DOCUMENTO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1523823"/>
            <a:ext cx="374832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Documento Normativo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319820" y="1523823"/>
            <a:ext cx="235802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de Perguntas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677844" y="1523823"/>
            <a:ext cx="189465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Frequência (%)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71500" y="1806001"/>
            <a:ext cx="3748320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Manual de Operação EMBRAPII v6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319820" y="1806001"/>
            <a:ext cx="2358024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677844" y="1806001"/>
            <a:ext cx="1894656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65%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71500" y="2091751"/>
            <a:ext cx="374832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Regimento do Comitê de Ética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319820" y="2091751"/>
            <a:ext cx="235802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6677844" y="2091751"/>
            <a:ext cx="189465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20%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571500" y="2373930"/>
            <a:ext cx="374832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Código de Conduta Ética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319820" y="2373930"/>
            <a:ext cx="235802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677844" y="2373930"/>
            <a:ext cx="189465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15%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571500" y="2656108"/>
            <a:ext cx="8001000" cy="282178"/>
          </a:xfrm>
          <a:prstGeom prst="rect">
            <a:avLst/>
          </a:prstGeom>
          <a:solidFill>
            <a:srgbClr val="00FF41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2656108"/>
            <a:ext cx="374832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ACUMULADO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319820" y="2656108"/>
            <a:ext cx="235802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231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677844" y="2656108"/>
            <a:ext cx="189465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78644" y="3477192"/>
            <a:ext cx="373618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QUESTÕES FACTUAIS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78644" y="3718294"/>
            <a:ext cx="3736181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60%</a:t>
            </a:r>
            <a:endParaRPr lang="en-US" sz="2145" dirty="0"/>
          </a:p>
        </p:txBody>
      </p:sp>
      <p:sp>
        <p:nvSpPr>
          <p:cNvPr id="26" name="Text 23"/>
          <p:cNvSpPr/>
          <p:nvPr/>
        </p:nvSpPr>
        <p:spPr>
          <a:xfrm>
            <a:off x="578644" y="4154063"/>
            <a:ext cx="373618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Buscam fatos explícitos, critérios, requisitos, prazos e definições presentes no texto original.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4829175" y="3477192"/>
            <a:ext cx="373618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QUESTÕES INFERENCIAIS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4829175" y="3718294"/>
            <a:ext cx="3736181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40%</a:t>
            </a:r>
            <a:endParaRPr lang="en-US" sz="2145" dirty="0"/>
          </a:p>
        </p:txBody>
      </p:sp>
      <p:sp>
        <p:nvSpPr>
          <p:cNvPr id="29" name="Text 26"/>
          <p:cNvSpPr/>
          <p:nvPr/>
        </p:nvSpPr>
        <p:spPr>
          <a:xfrm>
            <a:off x="4829175" y="4154063"/>
            <a:ext cx="373618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Exigem síntese, interpretação, comparação ou dedução a partir de múltiplos trechos do documento.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ESTRATÉGIAS DE CHUNKING COMPARADAS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2666991" cy="1743075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338086"/>
            <a:ext cx="238124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STRAT_01 ]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571500" y="1522037"/>
            <a:ext cx="238124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FIXED-SIZE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1798858"/>
            <a:ext cx="238124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Divisão por janela deslizante de caracteres com overlap fixo. Simples e determinístico (Baseline).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571500" y="2186015"/>
            <a:ext cx="442913" cy="137517"/>
          </a:xfrm>
          <a:prstGeom prst="rect">
            <a:avLst/>
          </a:prstGeom>
          <a:solidFill>
            <a:srgbClr val="003B00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186015"/>
            <a:ext cx="442913" cy="13751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GENÉRICO</a:t>
            </a:r>
            <a:endParaRPr lang="en-US" sz="516" dirty="0"/>
          </a:p>
        </p:txBody>
      </p:sp>
      <p:sp>
        <p:nvSpPr>
          <p:cNvPr id="12" name="Shape 9"/>
          <p:cNvSpPr/>
          <p:nvPr/>
        </p:nvSpPr>
        <p:spPr>
          <a:xfrm>
            <a:off x="3238491" y="1195211"/>
            <a:ext cx="2666991" cy="1743075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1366" y="1338086"/>
            <a:ext cx="238124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STRAT_02 ]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3381366" y="1522037"/>
            <a:ext cx="238124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381366" y="1798858"/>
            <a:ext cx="238124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Hierarquia de separadores (parágrafos, linhas, sentenças) adaptada para a língua portuguesa.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3381366" y="2186015"/>
            <a:ext cx="700088" cy="137517"/>
          </a:xfrm>
          <a:prstGeom prst="rect">
            <a:avLst/>
          </a:prstGeom>
          <a:solidFill>
            <a:srgbClr val="003B00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1366" y="2186015"/>
            <a:ext cx="700088" cy="13751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PADRÃO MERCADO</a:t>
            </a:r>
            <a:endParaRPr lang="en-US" sz="516" dirty="0"/>
          </a:p>
        </p:txBody>
      </p:sp>
      <p:sp>
        <p:nvSpPr>
          <p:cNvPr id="18" name="Shape 15"/>
          <p:cNvSpPr/>
          <p:nvPr/>
        </p:nvSpPr>
        <p:spPr>
          <a:xfrm>
            <a:off x="6048356" y="1195211"/>
            <a:ext cx="2667019" cy="1743075"/>
          </a:xfrm>
          <a:prstGeom prst="rect">
            <a:avLst/>
          </a:prstGeom>
          <a:solidFill>
            <a:srgbClr val="00FF41">
              <a:alpha val="10000"/>
            </a:srgbClr>
          </a:solidFill>
          <a:ln w="18288">
            <a:solidFill>
              <a:srgbClr val="00FF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1231" y="1338086"/>
            <a:ext cx="23812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STRAT_03 ]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6191231" y="1522037"/>
            <a:ext cx="238126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SENTENCE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6191231" y="1798858"/>
            <a:ext cx="23812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Segmentação por fronteiras linguísticas com proteção de abreviações técnicas (Dr., Prof., Art.).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6191231" y="2186015"/>
            <a:ext cx="485775" cy="137517"/>
          </a:xfrm>
          <a:prstGeom prst="rect">
            <a:avLst/>
          </a:prstGeom>
          <a:solidFill>
            <a:srgbClr val="00FF41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91231" y="2186015"/>
            <a:ext cx="485775" cy="13751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D0D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VENCEDORA</a:t>
            </a:r>
            <a:endParaRPr lang="en-US" sz="485" dirty="0"/>
          </a:p>
        </p:txBody>
      </p:sp>
      <p:sp>
        <p:nvSpPr>
          <p:cNvPr id="24" name="Shape 21"/>
          <p:cNvSpPr/>
          <p:nvPr/>
        </p:nvSpPr>
        <p:spPr>
          <a:xfrm>
            <a:off x="428625" y="3052586"/>
            <a:ext cx="2666991" cy="1728788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1500" y="3195461"/>
            <a:ext cx="238124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STRAT_04 ]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571500" y="3379412"/>
            <a:ext cx="238124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571500" y="3656233"/>
            <a:ext cx="238124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embeddings para detectar mudanças de tópico via quedas na similaridade cosseno.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571500" y="4043390"/>
            <a:ext cx="485775" cy="137517"/>
          </a:xfrm>
          <a:prstGeom prst="rect">
            <a:avLst/>
          </a:prstGeom>
          <a:solidFill>
            <a:srgbClr val="003B00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1500" y="4043390"/>
            <a:ext cx="485775" cy="13751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IA-DRIVEN</a:t>
            </a:r>
            <a:endParaRPr lang="en-US" sz="516" dirty="0"/>
          </a:p>
        </p:txBody>
      </p:sp>
      <p:sp>
        <p:nvSpPr>
          <p:cNvPr id="30" name="Shape 27"/>
          <p:cNvSpPr/>
          <p:nvPr/>
        </p:nvSpPr>
        <p:spPr>
          <a:xfrm>
            <a:off x="3238491" y="3052586"/>
            <a:ext cx="2666991" cy="1728788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81366" y="3195461"/>
            <a:ext cx="238124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STRAT_05 ]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3381366" y="3379412"/>
            <a:ext cx="238124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STRUCTURE-AWARE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3381366" y="3656233"/>
            <a:ext cx="238124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 a estrutura XML/JSON do Lattes para gerar chunks baseados em unidades de produção.</a:t>
            </a:r>
            <a:endParaRPr lang="en-US" sz="727" dirty="0"/>
          </a:p>
        </p:txBody>
      </p:sp>
      <p:sp>
        <p:nvSpPr>
          <p:cNvPr id="34" name="Shape 31"/>
          <p:cNvSpPr/>
          <p:nvPr/>
        </p:nvSpPr>
        <p:spPr>
          <a:xfrm>
            <a:off x="3381366" y="4183391"/>
            <a:ext cx="742950" cy="137517"/>
          </a:xfrm>
          <a:prstGeom prst="rect">
            <a:avLst/>
          </a:prstGeom>
          <a:solidFill>
            <a:srgbClr val="003B00"/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81366" y="4183391"/>
            <a:ext cx="742950" cy="13751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INOVAÇÃO LATTES</a:t>
            </a:r>
            <a:endParaRPr lang="en-US" sz="516" dirty="0"/>
          </a:p>
        </p:txBody>
      </p:sp>
      <p:sp>
        <p:nvSpPr>
          <p:cNvPr id="36" name="Text 33"/>
          <p:cNvSpPr/>
          <p:nvPr/>
        </p:nvSpPr>
        <p:spPr>
          <a:xfrm>
            <a:off x="6863944" y="3797322"/>
            <a:ext cx="1035844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SISTEMA DE AVALIAÇÃO</a:t>
            </a:r>
            <a:r>
              <a:rPr lang="en-US" sz="621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21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COMPARATIVA v2.0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ARQUITETURA DO FRAMEWORK EXPERIMENTAL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8286750" cy="3800475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78581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spc="2" kern="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SISTEMA DE AVALIAÇÃO RAG ]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92956" y="1943519"/>
            <a:ext cx="348615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(DOCKER COMPOSE)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792956" y="2227483"/>
            <a:ext cx="1689497" cy="385763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956" y="2227483"/>
            <a:ext cx="1689497" cy="385763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16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3.12 + uv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2589609" y="2227483"/>
            <a:ext cx="1689497" cy="385763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89609" y="2227483"/>
            <a:ext cx="1689497" cy="385763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</a:t>
            </a: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16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 Store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792956" y="2706114"/>
            <a:ext cx="3486150" cy="385763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2956" y="2706114"/>
            <a:ext cx="3486150" cy="385763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 16</a:t>
            </a: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16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Persistência de Experimentos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714875" y="1793500"/>
            <a:ext cx="3786188" cy="131980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57750" y="1936375"/>
            <a:ext cx="350043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EXTERNOS (OPENAI API)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4857750" y="2220339"/>
            <a:ext cx="3500438" cy="385763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57750" y="2220339"/>
            <a:ext cx="3500438" cy="385763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text-embedding-3-small</a:t>
            </a: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16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1536 Dimensões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4857750" y="2698970"/>
            <a:ext cx="3500438" cy="385763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0" y="2698970"/>
            <a:ext cx="3500438" cy="385763"/>
          </a:xfrm>
          <a:prstGeom prst="rect">
            <a:avLst/>
          </a:prstGeom>
          <a:noFill/>
          <a:ln/>
        </p:spPr>
        <p:txBody>
          <a:bodyPr wrap="square" lIns="85090" tIns="127508" rIns="8509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gpt-4o-mini</a:t>
            </a: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16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Geração &amp; Avaliação (RAGAS)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1140014" y="3370483"/>
            <a:ext cx="1564481" cy="217884"/>
          </a:xfrm>
          <a:prstGeom prst="rect">
            <a:avLst/>
          </a:prstGeom>
          <a:noFill/>
          <a:ln/>
        </p:spPr>
        <p:txBody>
          <a:bodyPr wrap="square" lIns="127508" tIns="85090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ISOLAMENTO POR COLEÇÃO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3698649" y="3370483"/>
            <a:ext cx="1443038" cy="217884"/>
          </a:xfrm>
          <a:prstGeom prst="rect">
            <a:avLst/>
          </a:prstGeom>
          <a:noFill/>
          <a:ln/>
        </p:spPr>
        <p:txBody>
          <a:bodyPr wrap="square" lIns="127508" tIns="85090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AUDITABILIDADE TOTAL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135839" y="3370483"/>
            <a:ext cx="1868091" cy="217884"/>
          </a:xfrm>
          <a:prstGeom prst="rect">
            <a:avLst/>
          </a:prstGeom>
          <a:noFill/>
          <a:ln/>
        </p:spPr>
        <p:txBody>
          <a:bodyPr wrap="square" lIns="127508" tIns="85090" rIns="127508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REPRODUTIBILIDADE (SEED=42)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RESULTADOS: A SUPERIORIDADE DA ESTRATÉGIA SENTENCE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23773"/>
            <a:ext cx="8286750" cy="1975247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266648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TABELA 1 — MEDIANA (IQR) POR ESTRATÉGIA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1523823"/>
            <a:ext cx="127094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Estratégia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1842446" y="1523823"/>
            <a:ext cx="157960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Faithfulness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3422052" y="1523823"/>
            <a:ext cx="1682493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Recall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104544" y="1523823"/>
            <a:ext cx="209404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 Correctness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7198584" y="1523823"/>
            <a:ext cx="137391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Veredito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71500" y="1806001"/>
            <a:ext cx="1270946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Fixed-Size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1842446" y="1806001"/>
            <a:ext cx="1579606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(0,317)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3422052" y="1806001"/>
            <a:ext cx="1682493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(1,000)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104544" y="1806001"/>
            <a:ext cx="2094040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0,638 (0,555)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7198584" y="1806001"/>
            <a:ext cx="1373916" cy="28575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Baseline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571500" y="2091751"/>
            <a:ext cx="127094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1842446" y="2091751"/>
            <a:ext cx="157960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(0,167)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3422052" y="2091751"/>
            <a:ext cx="1682493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(1,000)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5104544" y="2091751"/>
            <a:ext cx="209404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0,651 (0,532)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7198584" y="2091751"/>
            <a:ext cx="137391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Consistente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71500" y="2373930"/>
            <a:ext cx="8001000" cy="282178"/>
          </a:xfrm>
          <a:prstGeom prst="rect">
            <a:avLst/>
          </a:prstGeom>
          <a:solidFill>
            <a:srgbClr val="00FF41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" y="2373930"/>
            <a:ext cx="127094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Sentence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1842446" y="2373930"/>
            <a:ext cx="157960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(0,175)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3422052" y="2373930"/>
            <a:ext cx="1682493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(0,000)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5104544" y="2373930"/>
            <a:ext cx="209404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0,679 (0,470)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7198584" y="2373930"/>
            <a:ext cx="137391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VENCEDOR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571500" y="2656108"/>
            <a:ext cx="127094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1842446" y="2656108"/>
            <a:ext cx="157960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(0,200)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3422052" y="2656108"/>
            <a:ext cx="1682493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1,000 (0,125)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5104544" y="2656108"/>
            <a:ext cx="209404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0,609 (0,508)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7198584" y="2656108"/>
            <a:ext cx="1373916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 Alto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578644" y="3548630"/>
            <a:ext cx="373618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RANKING DE VITÓRIAS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578644" y="3825450"/>
            <a:ext cx="373618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estratégia </a:t>
            </a:r>
            <a:r>
              <a:rPr lang="en-US" sz="7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acumulou 2 vitórias significativas: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Superioridade em </a:t>
            </a:r>
            <a:r>
              <a:rPr lang="en-US" sz="7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Recall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(vs Recursive)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Superioridade em </a:t>
            </a:r>
            <a:r>
              <a:rPr lang="en-US" sz="7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Correctness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(vs Semantic)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4829175" y="3548630"/>
            <a:ext cx="373618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INTERPRETAÇÃO TÉCNICA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4829175" y="3825450"/>
            <a:ext cx="373618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Respeitar fronteiras linguísticas e proteger abreviações (pt-BR) preserva 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as </a:t>
            </a:r>
            <a:r>
              <a:rPr lang="en-US" sz="73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unidades de significado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facilitando a recuperação precisa e a </a:t>
            </a:r>
            <a:r>
              <a:rPr lang="en-US" sz="78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respostas corretas pelo LLM.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CONTRIBUIÇÕES E APLICAÇÕES PRÁTICAS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36219" cy="1764506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7219" y="1373805"/>
            <a:ext cx="367903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 OPEN-SOURCE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07219" y="1650625"/>
            <a:ext cx="36790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Disponibilização de ferramenta robusta para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de RAG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documentos institucionais brasileiros, permitindo 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reprodutibilidade acadêmica.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607219" y="2272131"/>
            <a:ext cx="1009055" cy="141089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REPRODUTIBILIDADE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4679156" y="1195211"/>
            <a:ext cx="4036219" cy="1764506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57750" y="1373805"/>
            <a:ext cx="367903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INOVAÇÃO LATTES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857750" y="1650625"/>
            <a:ext cx="36790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Structure-Aware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original que mapeia produções 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científicas como unidades atômicas, otimizando a busca em 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currículos acadêmicos.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857750" y="2272131"/>
            <a:ext cx="905470" cy="141089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STRUCTURE-AWARE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428625" y="3174030"/>
            <a:ext cx="4036219" cy="1764506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7219" y="3352623"/>
            <a:ext cx="367903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EFICIÊNCIA GOVERNAMENTAL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07219" y="3629444"/>
            <a:ext cx="36790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no tempo de triagem manual e aumento da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transparência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agilidade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nos processos de consulta normativa e fomento 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07219" y="4250950"/>
            <a:ext cx="801886" cy="141089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SETOR PÚBLICO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679156" y="3174030"/>
            <a:ext cx="4036219" cy="1764506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57750" y="3338336"/>
            <a:ext cx="367903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AUDITABILIDADE TOTAL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857750" y="3615156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resposta gerada é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rastreável aos chunks originais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garantindo 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jurídica e fundamentação técnica nas decisões.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857750" y="4065212"/>
            <a:ext cx="1060847" cy="141089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SEGURANÇA JURÍDICA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6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09461"/>
            <a:ext cx="9144000" cy="7144"/>
          </a:xfrm>
          <a:prstGeom prst="rect">
            <a:avLst/>
          </a:prstGeom>
          <a:solidFill>
            <a:srgbClr val="003B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75478"/>
            <a:ext cx="8715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FF4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CONCLUSÃO E FUTURO DA IA NO GOVERNO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195211"/>
            <a:ext cx="4000500" cy="3443288"/>
          </a:xfrm>
          <a:prstGeom prst="rect">
            <a:avLst/>
          </a:prstGeom>
          <a:solidFill>
            <a:srgbClr val="003B00">
              <a:alpha val="5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PRÓXIMOS PASSOS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28688" y="1777426"/>
            <a:ext cx="3286125" cy="32001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Análises estratificadas por tipo de pergunta e documento.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928688" y="2204600"/>
            <a:ext cx="3286125" cy="32001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completa do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Structure-Aware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corpus Lattes.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928688" y="2631774"/>
            <a:ext cx="3286125" cy="16000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de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Híbrida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(BM25 + Vetorial).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928688" y="2898939"/>
            <a:ext cx="3286125" cy="32001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Migração para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Locais</a:t>
            </a: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(LLaMA/Gemma) para soberania.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928688" y="3326113"/>
            <a:ext cx="3286125" cy="32001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de consulta normativa para agências de fomento.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714875" y="1195211"/>
            <a:ext cx="4000500" cy="34432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8688" y="1777426"/>
            <a:ext cx="20359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]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928688" y="2204600"/>
            <a:ext cx="20359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]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928688" y="2631774"/>
            <a:ext cx="20359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]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928688" y="2898939"/>
            <a:ext cx="20359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]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928688" y="3326113"/>
            <a:ext cx="203597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]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929188" y="1409523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VISÃO FINAL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929188" y="1777426"/>
            <a:ext cx="3571875" cy="114869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IA Generativa é o motor de </a:t>
            </a:r>
            <a:r>
              <a:rPr lang="en-US" sz="1090" b="1" i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 </a:t>
            </a:r>
            <a:r>
              <a:rPr lang="en-US" sz="1090" b="1" i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estratégica</a:t>
            </a:r>
            <a:r>
              <a:rPr lang="en-US" sz="1159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 gestão da ciência e </a:t>
            </a:r>
            <a:r>
              <a:rPr lang="en-US" sz="1159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brasileira, garantindo eficiência e </a:t>
            </a:r>
            <a:r>
              <a:rPr lang="en-US" sz="1159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jurídica."</a:t>
            </a:r>
            <a:endParaRPr lang="en-US" sz="1159" dirty="0"/>
          </a:p>
        </p:txBody>
      </p:sp>
      <p:sp>
        <p:nvSpPr>
          <p:cNvPr id="21" name="Text 18"/>
          <p:cNvSpPr/>
          <p:nvPr/>
        </p:nvSpPr>
        <p:spPr>
          <a:xfrm>
            <a:off x="4929188" y="3083282"/>
            <a:ext cx="3571875" cy="489347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escolha técnica do chunking impacta diretamente a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utilidade e </a:t>
            </a:r>
            <a:r>
              <a:rPr lang="en-US" sz="784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auditabilidade</a:t>
            </a:r>
            <a:r>
              <a:rPr lang="en-US" sz="834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sistema no setor público.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0" y="4624211"/>
            <a:ext cx="9144000" cy="39826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SISTEMA DE AVALIAÇÃO COMPARATIVA | EQUIPE 7 | 2026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2026-04-10T21:31:34Z</dcterms:created>
  <dcterms:modified xsi:type="dcterms:W3CDTF">2026-04-10T21:31:34Z</dcterms:modified>
</cp:coreProperties>
</file>