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7213" y="764214"/>
            <a:ext cx="8029575" cy="3615072"/>
          </a:xfrm>
          <a:prstGeom prst="rect">
            <a:avLst/>
          </a:prstGeom>
          <a:solidFill>
            <a:srgbClr val="0D0D0D">
              <a:alpha val="80000"/>
            </a:srgbClr>
          </a:solidFill>
          <a:ln w="18288">
            <a:solidFill>
              <a:srgbClr val="00FF4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000125" y="1255681"/>
            <a:ext cx="71437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16" b="1" spc="2" kern="0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AVALIAÇÃO COMPARATIVA DE ESTRATÉGIAS DE CHUNKING EM DOCUMENTOS INSTITUCIONAIS BRASILEIROS</a:t>
            </a:r>
            <a:endParaRPr lang="en-US" sz="2016" dirty="0"/>
          </a:p>
        </p:txBody>
      </p:sp>
      <p:sp>
        <p:nvSpPr>
          <p:cNvPr id="5" name="Text 2"/>
          <p:cNvSpPr/>
          <p:nvPr/>
        </p:nvSpPr>
        <p:spPr>
          <a:xfrm>
            <a:off x="2964656" y="2520125"/>
            <a:ext cx="3214688" cy="150019"/>
          </a:xfrm>
          <a:prstGeom prst="rect">
            <a:avLst/>
          </a:prstGeom>
          <a:noFill/>
          <a:ln/>
        </p:spPr>
        <p:txBody>
          <a:bodyPr wrap="none" lIns="0" tIns="0" rIns="85090" bIns="0" rtlCol="0" anchor="t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Framework RAG para Busca Semântica Inteligente</a:t>
            </a:r>
            <a:endParaRPr lang="en-US" sz="834" dirty="0"/>
          </a:p>
        </p:txBody>
      </p:sp>
      <p:sp>
        <p:nvSpPr>
          <p:cNvPr id="6" name="Text 3"/>
          <p:cNvSpPr/>
          <p:nvPr/>
        </p:nvSpPr>
        <p:spPr>
          <a:xfrm>
            <a:off x="1000125" y="2955894"/>
            <a:ext cx="714375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Equipe 7: Tiago Cardoso Soares &amp; Alan Tulio Lino Gonçalves</a:t>
            </a:r>
            <a:endParaRPr lang="en-US" sz="834" dirty="0"/>
          </a:p>
        </p:txBody>
      </p:sp>
      <p:sp>
        <p:nvSpPr>
          <p:cNvPr id="7" name="Text 4"/>
          <p:cNvSpPr/>
          <p:nvPr/>
        </p:nvSpPr>
        <p:spPr>
          <a:xfrm>
            <a:off x="2828032" y="3470244"/>
            <a:ext cx="34879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[API/BACKEND]:</a:t>
            </a:r>
            <a:r>
              <a:rPr lang="en-US" sz="674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67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github.com/tiagocardosos/api-chunking-evaluation</a:t>
            </a:r>
            <a:endParaRPr lang="en-US" sz="674" dirty="0"/>
          </a:p>
        </p:txBody>
      </p:sp>
      <p:sp>
        <p:nvSpPr>
          <p:cNvPr id="8" name="Text 5"/>
          <p:cNvSpPr/>
          <p:nvPr/>
        </p:nvSpPr>
        <p:spPr>
          <a:xfrm>
            <a:off x="2828032" y="3650624"/>
            <a:ext cx="34879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[FRONTEND]:</a:t>
            </a:r>
            <a:r>
              <a:rPr lang="en-US" sz="674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67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github.com/tiagocardosos/rag-orbit</a:t>
            </a:r>
            <a:endParaRPr lang="en-US" sz="674" dirty="0"/>
          </a:p>
        </p:txBody>
      </p:sp>
      <p:sp>
        <p:nvSpPr>
          <p:cNvPr id="9" name="Text 6"/>
          <p:cNvSpPr/>
          <p:nvPr/>
        </p:nvSpPr>
        <p:spPr>
          <a:xfrm>
            <a:off x="1000125" y="4045316"/>
            <a:ext cx="7143750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spc="2" kern="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INTELIGÊNCIA ARTIFICIAL GENERATIVA | PROF. MARCELO RODRIGO DE SOUZA PITA</a:t>
            </a:r>
            <a:endParaRPr lang="en-US" sz="62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RAG: O MOTOR DE INTELIGÊNCIA PARA CHATBOTS E DOCUMENTAÇÃO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293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USO EM CHATBOTS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928688" y="1777426"/>
            <a:ext cx="3286125" cy="514350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Redução de Alucinações:</a:t>
            </a:r>
            <a:r>
              <a:rPr lang="en-US" sz="83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chatbot baseia suas respostas em fatos verificáveis da base de conhecimento.</a:t>
            </a:r>
            <a:endParaRPr lang="en-US" sz="784" dirty="0"/>
          </a:p>
        </p:txBody>
      </p:sp>
      <p:sp>
        <p:nvSpPr>
          <p:cNvPr id="9" name="Text 6"/>
          <p:cNvSpPr/>
          <p:nvPr/>
        </p:nvSpPr>
        <p:spPr>
          <a:xfrm>
            <a:off x="928688" y="2434651"/>
            <a:ext cx="3286125" cy="342900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Informações Atualizadas:</a:t>
            </a:r>
            <a:r>
              <a:rPr lang="en-US" sz="83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Acesso a dados recentes sem necessidade de retreinar o modelo.</a:t>
            </a:r>
            <a:endParaRPr lang="en-US" sz="784" dirty="0"/>
          </a:p>
        </p:txBody>
      </p:sp>
      <p:sp>
        <p:nvSpPr>
          <p:cNvPr id="10" name="Text 7"/>
          <p:cNvSpPr/>
          <p:nvPr/>
        </p:nvSpPr>
        <p:spPr>
          <a:xfrm>
            <a:off x="928688" y="2920426"/>
            <a:ext cx="3286125" cy="342900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Respostas Contextuais:</a:t>
            </a:r>
            <a:r>
              <a:rPr lang="en-US" sz="83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Fornece respostas mais precisas e relevantes ao domínio específico.</a:t>
            </a:r>
            <a:endParaRPr lang="en-US" sz="784" dirty="0"/>
          </a:p>
        </p:txBody>
      </p:sp>
      <p:sp>
        <p:nvSpPr>
          <p:cNvPr id="11" name="Shape 8"/>
          <p:cNvSpPr/>
          <p:nvPr/>
        </p:nvSpPr>
        <p:spPr>
          <a:xfrm>
            <a:off x="471487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28688" y="1813145"/>
            <a:ext cx="517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  <p:sp>
        <p:nvSpPr>
          <p:cNvPr id="13" name="Text 10"/>
          <p:cNvSpPr/>
          <p:nvPr/>
        </p:nvSpPr>
        <p:spPr>
          <a:xfrm>
            <a:off x="928688" y="2470370"/>
            <a:ext cx="517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  <p:sp>
        <p:nvSpPr>
          <p:cNvPr id="14" name="Text 11"/>
          <p:cNvSpPr/>
          <p:nvPr/>
        </p:nvSpPr>
        <p:spPr>
          <a:xfrm>
            <a:off x="928688" y="2956145"/>
            <a:ext cx="517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  <p:sp>
        <p:nvSpPr>
          <p:cNvPr id="15" name="Text 12"/>
          <p:cNvSpPr/>
          <p:nvPr/>
        </p:nvSpPr>
        <p:spPr>
          <a:xfrm>
            <a:off x="492918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DOCUMENTAÇÃO INTERNA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214938" y="1777426"/>
            <a:ext cx="3286125" cy="342900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Otimização da Busca:</a:t>
            </a:r>
            <a:r>
              <a:rPr lang="en-US" sz="83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Reduz o tempo gasto na procura por informações em grandes volumes de documentos.</a:t>
            </a:r>
            <a:endParaRPr lang="en-US" sz="784" dirty="0"/>
          </a:p>
        </p:txBody>
      </p:sp>
      <p:sp>
        <p:nvSpPr>
          <p:cNvPr id="17" name="Text 14"/>
          <p:cNvSpPr/>
          <p:nvPr/>
        </p:nvSpPr>
        <p:spPr>
          <a:xfrm>
            <a:off x="5214938" y="2263201"/>
            <a:ext cx="3286125" cy="342900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Consistência:</a:t>
            </a:r>
            <a:r>
              <a:rPr lang="en-US" sz="83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Garante que todos os colaboradores recebam a mesma informação padronizada.</a:t>
            </a:r>
            <a:endParaRPr lang="en-US" sz="784" dirty="0"/>
          </a:p>
        </p:txBody>
      </p:sp>
      <p:sp>
        <p:nvSpPr>
          <p:cNvPr id="18" name="Text 15"/>
          <p:cNvSpPr/>
          <p:nvPr/>
        </p:nvSpPr>
        <p:spPr>
          <a:xfrm>
            <a:off x="5214938" y="2748976"/>
            <a:ext cx="3286125" cy="342900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Tomada de Decisão:</a:t>
            </a:r>
            <a:r>
              <a:rPr lang="en-US" sz="83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Facilita o acesso a dados cruciais para decisões estratégicas e operacionais.</a:t>
            </a:r>
            <a:endParaRPr lang="en-US" sz="784" dirty="0"/>
          </a:p>
        </p:txBody>
      </p:sp>
      <p:sp>
        <p:nvSpPr>
          <p:cNvPr id="19" name="Text 16"/>
          <p:cNvSpPr/>
          <p:nvPr/>
        </p:nvSpPr>
        <p:spPr>
          <a:xfrm>
            <a:off x="5214938" y="1813145"/>
            <a:ext cx="517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  <p:sp>
        <p:nvSpPr>
          <p:cNvPr id="20" name="Text 17"/>
          <p:cNvSpPr/>
          <p:nvPr/>
        </p:nvSpPr>
        <p:spPr>
          <a:xfrm>
            <a:off x="5214938" y="2298920"/>
            <a:ext cx="517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  <p:sp>
        <p:nvSpPr>
          <p:cNvPr id="21" name="Text 18"/>
          <p:cNvSpPr/>
          <p:nvPr/>
        </p:nvSpPr>
        <p:spPr>
          <a:xfrm>
            <a:off x="5214938" y="2784695"/>
            <a:ext cx="517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 QUE É CHUNKING E POR QUE ELE É VITAL?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293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CONCEITO FUNDAMENTAL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2938" y="1884583"/>
            <a:ext cx="3571875" cy="7543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159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Processo de dividir documentos </a:t>
            </a:r>
            <a:r>
              <a:rPr lang="en-US" sz="1159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extensos em fragmentos menores e </a:t>
            </a:r>
            <a:r>
              <a:rPr lang="en-US" sz="1090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semanticamente coerentes</a:t>
            </a:r>
            <a:r>
              <a:rPr lang="en-US" sz="1159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(chunks).</a:t>
            </a:r>
            <a:endParaRPr lang="en-US" sz="1159" dirty="0"/>
          </a:p>
        </p:txBody>
      </p:sp>
      <p:sp>
        <p:nvSpPr>
          <p:cNvPr id="9" name="Text 6"/>
          <p:cNvSpPr/>
          <p:nvPr/>
        </p:nvSpPr>
        <p:spPr>
          <a:xfrm>
            <a:off x="642938" y="2924696"/>
            <a:ext cx="3571875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 a ponte técnica entre o documento bruto e a capacidade de processamento do LLM.</a:t>
            </a:r>
            <a:endParaRPr lang="en-US" sz="834" dirty="0"/>
          </a:p>
        </p:txBody>
      </p:sp>
      <p:sp>
        <p:nvSpPr>
          <p:cNvPr id="10" name="Shape 7"/>
          <p:cNvSpPr/>
          <p:nvPr/>
        </p:nvSpPr>
        <p:spPr>
          <a:xfrm>
            <a:off x="471487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2918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POR QUE EXISTE?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214938" y="1777426"/>
            <a:ext cx="3286125" cy="385763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Limites de Contexto: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LLMs possuem janelas finitas de processamento de tokens.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5214938" y="2306064"/>
            <a:ext cx="3286125" cy="578644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Precisão de Recuperação: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Chunks menores permitem encontrar a informação exata sem "ruído".</a:t>
            </a:r>
            <a:endParaRPr lang="en-US" sz="885" dirty="0"/>
          </a:p>
        </p:txBody>
      </p:sp>
      <p:sp>
        <p:nvSpPr>
          <p:cNvPr id="14" name="Text 11"/>
          <p:cNvSpPr/>
          <p:nvPr/>
        </p:nvSpPr>
        <p:spPr>
          <a:xfrm>
            <a:off x="5214938" y="3027583"/>
            <a:ext cx="3286125" cy="385763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 e Performance: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Otimiza o uso de tokens e acelera a busca vetorial no banco.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5214938" y="1813145"/>
            <a:ext cx="517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  <p:sp>
        <p:nvSpPr>
          <p:cNvPr id="16" name="Text 13"/>
          <p:cNvSpPr/>
          <p:nvPr/>
        </p:nvSpPr>
        <p:spPr>
          <a:xfrm>
            <a:off x="5214938" y="2341783"/>
            <a:ext cx="517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  <p:sp>
        <p:nvSpPr>
          <p:cNvPr id="17" name="Text 14"/>
          <p:cNvSpPr/>
          <p:nvPr/>
        </p:nvSpPr>
        <p:spPr>
          <a:xfrm>
            <a:off x="5214938" y="3063301"/>
            <a:ext cx="517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ESTRATÉGIA 1: FIXED-SIZE (O BASELINE)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293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CONCEITO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2938" y="1777426"/>
            <a:ext cx="3571875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Divide o texto em blocos de </a:t>
            </a: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tamanho fixo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(ex: 500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caracteres) com um overlap constante para manter o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 entre as bordas.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928688" y="2594604"/>
            <a:ext cx="3286125" cy="320018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Prós:</a:t>
            </a:r>
            <a:r>
              <a:rPr lang="en-US" sz="83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Implementação extremamente simples e baixo custo computacional.</a:t>
            </a:r>
            <a:endParaRPr lang="en-US" sz="784" dirty="0"/>
          </a:p>
        </p:txBody>
      </p:sp>
      <p:sp>
        <p:nvSpPr>
          <p:cNvPr id="10" name="Text 7"/>
          <p:cNvSpPr/>
          <p:nvPr/>
        </p:nvSpPr>
        <p:spPr>
          <a:xfrm>
            <a:off x="928688" y="3021778"/>
            <a:ext cx="3286125" cy="320018"/>
          </a:xfrm>
          <a:prstGeom prst="rect">
            <a:avLst/>
          </a:prstGeom>
          <a:noFill/>
          <a:ln/>
        </p:spPr>
        <p:txBody>
          <a:bodyPr wrap="square" lIns="212598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78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Contras:</a:t>
            </a:r>
            <a:r>
              <a:rPr lang="en-US" sz="83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Frequentemente corta palavras e frases ao meio, destruindo a semântica.</a:t>
            </a:r>
            <a:endParaRPr lang="en-US" sz="784" dirty="0"/>
          </a:p>
        </p:txBody>
      </p:sp>
      <p:sp>
        <p:nvSpPr>
          <p:cNvPr id="11" name="Shape 8"/>
          <p:cNvSpPr/>
          <p:nvPr/>
        </p:nvSpPr>
        <p:spPr>
          <a:xfrm>
            <a:off x="642938" y="3670409"/>
            <a:ext cx="1630561" cy="183952"/>
          </a:xfrm>
          <a:prstGeom prst="rect">
            <a:avLst/>
          </a:prstGeom>
          <a:solidFill>
            <a:srgbClr val="003B00"/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2938" y="3670409"/>
            <a:ext cx="1630561" cy="183952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STATUS: BASELINE EXPERIMENTAL</a:t>
            </a:r>
            <a:endParaRPr lang="en-US" sz="621" dirty="0"/>
          </a:p>
        </p:txBody>
      </p:sp>
      <p:sp>
        <p:nvSpPr>
          <p:cNvPr id="13" name="Shape 10"/>
          <p:cNvSpPr/>
          <p:nvPr/>
        </p:nvSpPr>
        <p:spPr>
          <a:xfrm>
            <a:off x="471487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28688" y="2623179"/>
            <a:ext cx="51792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  <p:sp>
        <p:nvSpPr>
          <p:cNvPr id="15" name="Text 12"/>
          <p:cNvSpPr/>
          <p:nvPr/>
        </p:nvSpPr>
        <p:spPr>
          <a:xfrm>
            <a:off x="928688" y="3050353"/>
            <a:ext cx="51792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</a:t>
            </a:r>
            <a:endParaRPr lang="en-US" sz="621" dirty="0"/>
          </a:p>
        </p:txBody>
      </p:sp>
      <p:sp>
        <p:nvSpPr>
          <p:cNvPr id="16" name="Text 13"/>
          <p:cNvSpPr/>
          <p:nvPr/>
        </p:nvSpPr>
        <p:spPr>
          <a:xfrm>
            <a:off x="492918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EXEMPLO DE SEGMENTAÇÃO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929188" y="1777426"/>
            <a:ext cx="3571875" cy="1943100"/>
          </a:xfrm>
          <a:prstGeom prst="rect">
            <a:avLst/>
          </a:prstGeom>
          <a:solidFill>
            <a:srgbClr val="000000"/>
          </a:solidFill>
          <a:ln w="9144">
            <a:solidFill>
              <a:srgbClr val="00FF41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4929188" y="1777426"/>
            <a:ext cx="3571875" cy="1943100"/>
          </a:xfrm>
          <a:prstGeom prst="rect">
            <a:avLst/>
          </a:prstGeom>
          <a:noFill/>
          <a:ln/>
        </p:spPr>
        <p:txBody>
          <a:bodyPr wrap="square" lIns="170053" tIns="170053" rIns="170053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CHUNK_01 (Limite: 40 chars)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 Manual de Operação define as reg..."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834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CHUNK_02 (Com Overlap)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"...ras de fomento para projetos..."</a:t>
            </a:r>
            <a:endParaRPr lang="en-US" sz="834" dirty="0"/>
          </a:p>
        </p:txBody>
      </p:sp>
      <p:sp>
        <p:nvSpPr>
          <p:cNvPr id="19" name="Text 16"/>
          <p:cNvSpPr/>
          <p:nvPr/>
        </p:nvSpPr>
        <p:spPr>
          <a:xfrm>
            <a:off x="4929188" y="3849114"/>
            <a:ext cx="35718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como a palavra </a:t>
            </a:r>
            <a:r>
              <a:rPr lang="en-US" sz="683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"regras"</a:t>
            </a:r>
            <a:r>
              <a:rPr lang="en-US" sz="727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foi fragmentada. Isso dificulta a criação de </a:t>
            </a:r>
            <a:r>
              <a:rPr lang="en-US" sz="727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embeddings precisos e a compreensão do LLM.</a:t>
            </a:r>
            <a:endParaRPr lang="en-US" sz="727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ESTRATÉGIA 2: RECURSIVE (O PADRÃO DE MERCADO)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293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CONCEITO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2938" y="1777426"/>
            <a:ext cx="726877" cy="183952"/>
          </a:xfrm>
          <a:prstGeom prst="rect">
            <a:avLst/>
          </a:prstGeom>
          <a:solidFill>
            <a:srgbClr val="003B00"/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2938" y="1777426"/>
            <a:ext cx="726877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HIERÁRQUICO</a:t>
            </a:r>
            <a:endParaRPr lang="en-US" sz="621" dirty="0"/>
          </a:p>
        </p:txBody>
      </p:sp>
      <p:sp>
        <p:nvSpPr>
          <p:cNvPr id="10" name="Text 7"/>
          <p:cNvSpPr/>
          <p:nvPr/>
        </p:nvSpPr>
        <p:spPr>
          <a:xfrm>
            <a:off x="642938" y="2218553"/>
            <a:ext cx="357187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Tenta manter parágrafos e frases juntos usando uma </a:t>
            </a: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hierarquia de separadores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642938" y="2772863"/>
            <a:ext cx="357187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um bloco é muito grande, ele tenta quebrar sucessivamente em: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642938" y="3327174"/>
            <a:ext cx="35718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 Parágrafos ("\n\n")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 Quebras de linha ("\n")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 Espaços (" ")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 Caracteres ("")</a:t>
            </a:r>
            <a:endParaRPr lang="en-US" sz="834" dirty="0"/>
          </a:p>
        </p:txBody>
      </p:sp>
      <p:sp>
        <p:nvSpPr>
          <p:cNvPr id="13" name="Shape 10"/>
          <p:cNvSpPr/>
          <p:nvPr/>
        </p:nvSpPr>
        <p:spPr>
          <a:xfrm>
            <a:off x="471487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2918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EXEMPLO PRÁTICO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929188" y="1777426"/>
            <a:ext cx="3571875" cy="1943100"/>
          </a:xfrm>
          <a:prstGeom prst="rect">
            <a:avLst/>
          </a:prstGeom>
          <a:solidFill>
            <a:srgbClr val="000000"/>
          </a:solidFill>
          <a:ln w="9144">
            <a:solidFill>
              <a:srgbClr val="00FF41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4929188" y="1777426"/>
            <a:ext cx="3571875" cy="1943100"/>
          </a:xfrm>
          <a:prstGeom prst="rect">
            <a:avLst/>
          </a:prstGeom>
          <a:noFill/>
          <a:ln/>
        </p:spPr>
        <p:txBody>
          <a:bodyPr wrap="square" lIns="170053" tIns="170053" rIns="170053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Texto Original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 projeto foi aprovado.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fomento será liberado em 2026."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727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Processamento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Detecta "\n" -&gt; Mantém frases juntas.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727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Resultado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Chunk 1: "O projeto foi aprovado. O fomento será 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liberado em 2026."</a:t>
            </a:r>
            <a:endParaRPr lang="en-US" sz="727" dirty="0"/>
          </a:p>
        </p:txBody>
      </p:sp>
      <p:sp>
        <p:nvSpPr>
          <p:cNvPr id="17" name="Text 14"/>
          <p:cNvSpPr/>
          <p:nvPr/>
        </p:nvSpPr>
        <p:spPr>
          <a:xfrm>
            <a:off x="4929188" y="3849114"/>
            <a:ext cx="35718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Adaptamos a hierarquia para respeitar a estrutura gramatical e normativa do Português.</a:t>
            </a:r>
            <a:endParaRPr lang="en-US" sz="727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ESTRATÉGIA 3: SENTENCE (A VENCEDORA)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95211"/>
            <a:ext cx="4000500" cy="3457575"/>
          </a:xfrm>
          <a:prstGeom prst="rect">
            <a:avLst/>
          </a:prstGeom>
          <a:solidFill>
            <a:srgbClr val="FFFFFF">
              <a:alpha val="5000"/>
            </a:srgbClr>
          </a:solidFill>
          <a:ln w="18288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2938" y="1409523"/>
            <a:ext cx="1259086" cy="169664"/>
          </a:xfrm>
          <a:prstGeom prst="rect">
            <a:avLst/>
          </a:prstGeom>
          <a:solidFill>
            <a:srgbClr val="00FF41"/>
          </a:solidFill>
          <a:ln/>
        </p:spPr>
      </p:sp>
      <p:sp>
        <p:nvSpPr>
          <p:cNvPr id="8" name="Text 5"/>
          <p:cNvSpPr/>
          <p:nvPr/>
        </p:nvSpPr>
        <p:spPr>
          <a:xfrm>
            <a:off x="642938" y="1409523"/>
            <a:ext cx="1259086" cy="169664"/>
          </a:xfrm>
          <a:prstGeom prst="rect">
            <a:avLst/>
          </a:prstGeom>
          <a:noFill/>
          <a:ln/>
        </p:spPr>
        <p:txBody>
          <a:bodyPr wrap="square" lIns="102108" tIns="34036" rIns="102108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D0D0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VENCEDORA ESTATÍSTICA</a:t>
            </a:r>
            <a:endParaRPr lang="en-US" sz="584" dirty="0"/>
          </a:p>
        </p:txBody>
      </p:sp>
      <p:sp>
        <p:nvSpPr>
          <p:cNvPr id="9" name="Text 6"/>
          <p:cNvSpPr/>
          <p:nvPr/>
        </p:nvSpPr>
        <p:spPr>
          <a:xfrm>
            <a:off x="642938" y="1722062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CONCEITO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2938" y="2089965"/>
            <a:ext cx="357187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Garante que cada chunk termine exatamente no fim de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uma </a:t>
            </a: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sentença gramatical completa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642938" y="2644276"/>
            <a:ext cx="3571875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Impacto: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Melhor preservação de unidades de significado,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resultando em maior acurácia e fidelidade nas respostas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LLM.</a:t>
            </a:r>
            <a:endParaRPr lang="en-US" sz="942" dirty="0"/>
          </a:p>
        </p:txBody>
      </p:sp>
      <p:sp>
        <p:nvSpPr>
          <p:cNvPr id="12" name="Shape 9"/>
          <p:cNvSpPr/>
          <p:nvPr/>
        </p:nvSpPr>
        <p:spPr>
          <a:xfrm>
            <a:off x="471487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2918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EXEMPLO PRÁTICO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29188" y="1777426"/>
            <a:ext cx="3571875" cy="1943100"/>
          </a:xfrm>
          <a:prstGeom prst="rect">
            <a:avLst/>
          </a:prstGeom>
          <a:solidFill>
            <a:srgbClr val="000000"/>
          </a:solidFill>
          <a:ln w="9144">
            <a:solidFill>
              <a:srgbClr val="00FF41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4929188" y="1777426"/>
            <a:ext cx="3571875" cy="1943100"/>
          </a:xfrm>
          <a:prstGeom prst="rect">
            <a:avLst/>
          </a:prstGeom>
          <a:noFill/>
          <a:ln/>
        </p:spPr>
        <p:txBody>
          <a:bodyPr wrap="square" lIns="170053" tIns="170053" rIns="170053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Proteção de abreviações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 </a:t>
            </a:r>
            <a:r>
              <a:rPr lang="en-US" sz="784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Prof. Dr.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Silva aprovou o projeto v6."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834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Próxima sentença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 prazo é de 30 dias."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834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Resultado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sistema não quebra no ponto da abreviação, </a:t>
            </a: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mantendo o contexto íntegro.</a:t>
            </a:r>
            <a:endParaRPr lang="en-US" sz="83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ESTRATÉGIA 4: SEMANTIC (IA-DRIVEN)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95211"/>
            <a:ext cx="4000500" cy="3443288"/>
          </a:xfrm>
          <a:prstGeom prst="rect">
            <a:avLst/>
          </a:prstGeom>
          <a:solidFill>
            <a:srgbClr val="003B00">
              <a:alpha val="5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293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CONCEITO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2938" y="1777426"/>
            <a:ext cx="1244798" cy="183952"/>
          </a:xfrm>
          <a:prstGeom prst="rect">
            <a:avLst/>
          </a:prstGeom>
          <a:solidFill>
            <a:srgbClr val="003B00"/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2938" y="1777426"/>
            <a:ext cx="1244798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TOPIC-BASED SPLITTING</a:t>
            </a:r>
            <a:endParaRPr lang="en-US" sz="621" dirty="0"/>
          </a:p>
        </p:txBody>
      </p:sp>
      <p:sp>
        <p:nvSpPr>
          <p:cNvPr id="10" name="Text 7"/>
          <p:cNvSpPr/>
          <p:nvPr/>
        </p:nvSpPr>
        <p:spPr>
          <a:xfrm>
            <a:off x="642938" y="2182834"/>
            <a:ext cx="3571875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Analisa a </a:t>
            </a: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similaridade semântica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entre sentenças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consecutivas e cria uma quebra quando o assunto muda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drasticamente.</a:t>
            </a:r>
            <a:endParaRPr lang="en-US" sz="942" dirty="0"/>
          </a:p>
        </p:txBody>
      </p:sp>
      <p:sp>
        <p:nvSpPr>
          <p:cNvPr id="11" name="Shape 8"/>
          <p:cNvSpPr/>
          <p:nvPr/>
        </p:nvSpPr>
        <p:spPr>
          <a:xfrm>
            <a:off x="642938" y="2942862"/>
            <a:ext cx="3571875" cy="782241"/>
          </a:xfrm>
          <a:prstGeom prst="rect">
            <a:avLst/>
          </a:prstGeom>
          <a:solidFill>
            <a:srgbClr val="000000"/>
          </a:solidFill>
          <a:ln w="9144">
            <a:solidFill>
              <a:srgbClr val="00FF41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42938" y="2942862"/>
            <a:ext cx="3571875" cy="782241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SENTENÇA A ]: "Ética no fomento..."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SENTENÇA B ]: "Prazos de entrega..."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727" dirty="0">
                <a:solidFill>
                  <a:srgbClr val="FF313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Similaridade &lt; Limiar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&gt;&gt; BREAK DETECTED &lt;&lt;</a:t>
            </a:r>
            <a:endParaRPr lang="en-US" sz="727" dirty="0"/>
          </a:p>
        </p:txBody>
      </p:sp>
      <p:sp>
        <p:nvSpPr>
          <p:cNvPr id="13" name="Shape 10"/>
          <p:cNvSpPr/>
          <p:nvPr/>
        </p:nvSpPr>
        <p:spPr>
          <a:xfrm>
            <a:off x="4714875" y="1195211"/>
            <a:ext cx="4000500" cy="3443288"/>
          </a:xfrm>
          <a:prstGeom prst="rect">
            <a:avLst/>
          </a:prstGeom>
          <a:solidFill>
            <a:srgbClr val="003B00">
              <a:alpha val="5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2918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ANÁLISE TÉCNICA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929188" y="1777426"/>
            <a:ext cx="357187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Vantagem: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Garante que cada chunk contenha apenas um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tópico coerente, facilitando a vida do LLM.</a:t>
            </a:r>
            <a:endParaRPr lang="en-US" sz="942" dirty="0"/>
          </a:p>
        </p:txBody>
      </p:sp>
      <p:sp>
        <p:nvSpPr>
          <p:cNvPr id="16" name="Text 13"/>
          <p:cNvSpPr/>
          <p:nvPr/>
        </p:nvSpPr>
        <p:spPr>
          <a:xfrm>
            <a:off x="4929188" y="2331737"/>
            <a:ext cx="3571875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Custo: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Exige múltiplas chamadas de API de embedding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durante a fase de ingestão para calcular as distâncias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vetoriais.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4929188" y="3234640"/>
            <a:ext cx="35718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Ideal para documentos com transições de assunto abruptas ou seções mal formatadas.</a:t>
            </a:r>
            <a:endParaRPr lang="en-US" sz="727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ESTRATÉGIA 5: STRUCTURE-AWARE (INOVAÇÃO LATTES)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293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CONCEITO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2938" y="1777426"/>
            <a:ext cx="675084" cy="183952"/>
          </a:xfrm>
          <a:prstGeom prst="rect">
            <a:avLst/>
          </a:prstGeom>
          <a:solidFill>
            <a:srgbClr val="003B00"/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2938" y="1777426"/>
            <a:ext cx="675084" cy="183952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ESTRUTURAL</a:t>
            </a:r>
            <a:endParaRPr lang="en-US" sz="621" dirty="0"/>
          </a:p>
        </p:txBody>
      </p:sp>
      <p:sp>
        <p:nvSpPr>
          <p:cNvPr id="10" name="Text 7"/>
          <p:cNvSpPr/>
          <p:nvPr/>
        </p:nvSpPr>
        <p:spPr>
          <a:xfrm>
            <a:off x="642938" y="2218553"/>
            <a:ext cx="3571875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Utiliza a estrutura </a:t>
            </a: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XML/JSON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nativa do Currículo Lattes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definir os limites exatos de cada fragmento de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informação.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642938" y="2978581"/>
            <a:ext cx="3571875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Vantagem: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Elimina o risco de misturar dados de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produções diferentes em um mesmo fragmento,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garantindo que cada "Artigo" ou "Patente" seja um chunk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atômico.</a:t>
            </a:r>
            <a:endParaRPr lang="en-US" sz="942" dirty="0"/>
          </a:p>
        </p:txBody>
      </p:sp>
      <p:sp>
        <p:nvSpPr>
          <p:cNvPr id="12" name="Shape 9"/>
          <p:cNvSpPr/>
          <p:nvPr/>
        </p:nvSpPr>
        <p:spPr>
          <a:xfrm>
            <a:off x="4714875" y="1195211"/>
            <a:ext cx="4000500" cy="3443288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2918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EXEMPLO DE PARSING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29188" y="1777426"/>
            <a:ext cx="3571875" cy="1943100"/>
          </a:xfrm>
          <a:prstGeom prst="rect">
            <a:avLst/>
          </a:prstGeom>
          <a:solidFill>
            <a:srgbClr val="000000"/>
          </a:solidFill>
          <a:ln w="9144">
            <a:solidFill>
              <a:srgbClr val="00FF41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4929188" y="1777426"/>
            <a:ext cx="3571875" cy="1943100"/>
          </a:xfrm>
          <a:prstGeom prst="rect">
            <a:avLst/>
          </a:prstGeom>
          <a:noFill/>
          <a:ln/>
        </p:spPr>
        <p:txBody>
          <a:bodyPr wrap="square" lIns="170053" tIns="170053" rIns="170053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Unidade Atômica Identificada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"tipo": "ARTIGO_PUBLICADO",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"titulo": "RAG em Documentos Gov",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"ano": 2024,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"doi": "10.1109/LATTES.2024",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"autores": ["Soares, T.", "Gonçalves, A."]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727" dirty="0"/>
          </a:p>
        </p:txBody>
      </p:sp>
      <p:sp>
        <p:nvSpPr>
          <p:cNvPr id="16" name="Text 13"/>
          <p:cNvSpPr/>
          <p:nvPr/>
        </p:nvSpPr>
        <p:spPr>
          <a:xfrm>
            <a:off x="4929188" y="3849114"/>
            <a:ext cx="35718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sistema reconhece o início e fim de cada entidade acadêmica, preservando a integridade total dos metadados.</a:t>
            </a:r>
            <a:endParaRPr lang="en-US" sz="727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GOLDEN QUESTIONS E ESTATÍSTICAS DO RAG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23773"/>
            <a:ext cx="1964531" cy="1014413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5781" y="1266648"/>
            <a:ext cx="175021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924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~65K</a:t>
            </a:r>
            <a:endParaRPr lang="en-US" sz="1924" dirty="0"/>
          </a:p>
        </p:txBody>
      </p:sp>
      <p:sp>
        <p:nvSpPr>
          <p:cNvPr id="8" name="Text 5"/>
          <p:cNvSpPr/>
          <p:nvPr/>
        </p:nvSpPr>
        <p:spPr>
          <a:xfrm>
            <a:off x="535781" y="1595261"/>
            <a:ext cx="1750219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PALAVRAS TOTAIS</a:t>
            </a:r>
            <a:endParaRPr lang="en-US" sz="621" dirty="0"/>
          </a:p>
        </p:txBody>
      </p:sp>
      <p:sp>
        <p:nvSpPr>
          <p:cNvPr id="9" name="Shape 6"/>
          <p:cNvSpPr/>
          <p:nvPr/>
        </p:nvSpPr>
        <p:spPr>
          <a:xfrm>
            <a:off x="2536031" y="1123773"/>
            <a:ext cx="1964531" cy="1014413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43188" y="1266648"/>
            <a:ext cx="175021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924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~8.5K</a:t>
            </a:r>
            <a:endParaRPr lang="en-US" sz="1924" dirty="0"/>
          </a:p>
        </p:txBody>
      </p:sp>
      <p:sp>
        <p:nvSpPr>
          <p:cNvPr id="11" name="Text 8"/>
          <p:cNvSpPr/>
          <p:nvPr/>
        </p:nvSpPr>
        <p:spPr>
          <a:xfrm>
            <a:off x="2643188" y="1595261"/>
            <a:ext cx="1750219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PALAVRAS ÚNICAS</a:t>
            </a:r>
            <a:endParaRPr lang="en-US" sz="621" dirty="0"/>
          </a:p>
        </p:txBody>
      </p:sp>
      <p:sp>
        <p:nvSpPr>
          <p:cNvPr id="12" name="Shape 9"/>
          <p:cNvSpPr/>
          <p:nvPr/>
        </p:nvSpPr>
        <p:spPr>
          <a:xfrm>
            <a:off x="4643438" y="1123773"/>
            <a:ext cx="1964531" cy="1014413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50594" y="1266648"/>
            <a:ext cx="175021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924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~3.2K</a:t>
            </a:r>
            <a:endParaRPr lang="en-US" sz="1924" dirty="0"/>
          </a:p>
        </p:txBody>
      </p:sp>
      <p:sp>
        <p:nvSpPr>
          <p:cNvPr id="14" name="Text 11"/>
          <p:cNvSpPr/>
          <p:nvPr/>
        </p:nvSpPr>
        <p:spPr>
          <a:xfrm>
            <a:off x="4750594" y="1595261"/>
            <a:ext cx="1750219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FRASES / SENTENÇAS</a:t>
            </a:r>
            <a:endParaRPr lang="en-US" sz="621" dirty="0"/>
          </a:p>
        </p:txBody>
      </p:sp>
      <p:sp>
        <p:nvSpPr>
          <p:cNvPr id="15" name="Shape 12"/>
          <p:cNvSpPr/>
          <p:nvPr/>
        </p:nvSpPr>
        <p:spPr>
          <a:xfrm>
            <a:off x="6750844" y="1123773"/>
            <a:ext cx="1964531" cy="1014413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0" y="1266648"/>
            <a:ext cx="175021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924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~450</a:t>
            </a:r>
            <a:endParaRPr lang="en-US" sz="1924" dirty="0"/>
          </a:p>
        </p:txBody>
      </p:sp>
      <p:sp>
        <p:nvSpPr>
          <p:cNvPr id="17" name="Text 14"/>
          <p:cNvSpPr/>
          <p:nvPr/>
        </p:nvSpPr>
        <p:spPr>
          <a:xfrm>
            <a:off x="6858000" y="1595261"/>
            <a:ext cx="1750219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CHUNKS (MÉDIA)</a:t>
            </a:r>
            <a:endParaRPr lang="en-US" sz="621" dirty="0"/>
          </a:p>
        </p:txBody>
      </p:sp>
      <p:sp>
        <p:nvSpPr>
          <p:cNvPr id="18" name="Shape 15"/>
          <p:cNvSpPr/>
          <p:nvPr/>
        </p:nvSpPr>
        <p:spPr>
          <a:xfrm>
            <a:off x="428625" y="2338211"/>
            <a:ext cx="8286750" cy="2657475"/>
          </a:xfrm>
          <a:prstGeom prst="rect">
            <a:avLst/>
          </a:prstGeom>
          <a:solidFill>
            <a:srgbClr val="003B00">
              <a:alpha val="5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500" y="2481086"/>
            <a:ext cx="800100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GOLDEN SET: O PADRÃO OURO (231 PERGUNTAS)</a:t>
            </a:r>
            <a:endParaRPr lang="en-US" sz="834" dirty="0"/>
          </a:p>
        </p:txBody>
      </p:sp>
      <p:sp>
        <p:nvSpPr>
          <p:cNvPr id="20" name="Text 17"/>
          <p:cNvSpPr/>
          <p:nvPr/>
        </p:nvSpPr>
        <p:spPr>
          <a:xfrm>
            <a:off x="571500" y="2738261"/>
            <a:ext cx="3043321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Documento Processado</a:t>
            </a:r>
            <a:endParaRPr lang="en-US" sz="683" dirty="0"/>
          </a:p>
        </p:txBody>
      </p:sp>
      <p:sp>
        <p:nvSpPr>
          <p:cNvPr id="21" name="Text 18"/>
          <p:cNvSpPr/>
          <p:nvPr/>
        </p:nvSpPr>
        <p:spPr>
          <a:xfrm>
            <a:off x="3614821" y="2738261"/>
            <a:ext cx="910800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Páginas</a:t>
            </a:r>
            <a:endParaRPr lang="en-US" sz="683" dirty="0"/>
          </a:p>
        </p:txBody>
      </p:sp>
      <p:sp>
        <p:nvSpPr>
          <p:cNvPr id="22" name="Text 19"/>
          <p:cNvSpPr/>
          <p:nvPr/>
        </p:nvSpPr>
        <p:spPr>
          <a:xfrm>
            <a:off x="4525621" y="2738261"/>
            <a:ext cx="1096231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Perguntas</a:t>
            </a:r>
            <a:endParaRPr lang="en-US" sz="683" dirty="0"/>
          </a:p>
        </p:txBody>
      </p:sp>
      <p:sp>
        <p:nvSpPr>
          <p:cNvPr id="23" name="Text 20"/>
          <p:cNvSpPr/>
          <p:nvPr/>
        </p:nvSpPr>
        <p:spPr>
          <a:xfrm>
            <a:off x="5621852" y="2738261"/>
            <a:ext cx="2950648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Tipologia Predominante</a:t>
            </a:r>
            <a:endParaRPr lang="en-US" sz="683" dirty="0"/>
          </a:p>
        </p:txBody>
      </p:sp>
      <p:sp>
        <p:nvSpPr>
          <p:cNvPr id="24" name="Text 21"/>
          <p:cNvSpPr/>
          <p:nvPr/>
        </p:nvSpPr>
        <p:spPr>
          <a:xfrm>
            <a:off x="571500" y="3049014"/>
            <a:ext cx="3043321" cy="314325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Manual de Operação EMBRAPII v6</a:t>
            </a:r>
            <a:endParaRPr lang="en-US" sz="727" dirty="0"/>
          </a:p>
        </p:txBody>
      </p:sp>
      <p:sp>
        <p:nvSpPr>
          <p:cNvPr id="25" name="Text 22"/>
          <p:cNvSpPr/>
          <p:nvPr/>
        </p:nvSpPr>
        <p:spPr>
          <a:xfrm>
            <a:off x="3614821" y="3049014"/>
            <a:ext cx="910800" cy="314325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150</a:t>
            </a:r>
            <a:endParaRPr lang="en-US" sz="727" dirty="0"/>
          </a:p>
        </p:txBody>
      </p:sp>
      <p:sp>
        <p:nvSpPr>
          <p:cNvPr id="26" name="Text 23"/>
          <p:cNvSpPr/>
          <p:nvPr/>
        </p:nvSpPr>
        <p:spPr>
          <a:xfrm>
            <a:off x="4525621" y="3049014"/>
            <a:ext cx="1096231" cy="314325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150</a:t>
            </a:r>
            <a:endParaRPr lang="en-US" sz="727" dirty="0"/>
          </a:p>
        </p:txBody>
      </p:sp>
      <p:sp>
        <p:nvSpPr>
          <p:cNvPr id="27" name="Text 24"/>
          <p:cNvSpPr/>
          <p:nvPr/>
        </p:nvSpPr>
        <p:spPr>
          <a:xfrm>
            <a:off x="5621852" y="3049014"/>
            <a:ext cx="2950648" cy="314325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Factual (62%)</a:t>
            </a:r>
            <a:endParaRPr lang="en-US" sz="727" dirty="0"/>
          </a:p>
        </p:txBody>
      </p:sp>
      <p:sp>
        <p:nvSpPr>
          <p:cNvPr id="28" name="Text 25"/>
          <p:cNvSpPr/>
          <p:nvPr/>
        </p:nvSpPr>
        <p:spPr>
          <a:xfrm>
            <a:off x="571500" y="3363339"/>
            <a:ext cx="3043321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Regimento do Comitê de Ética</a:t>
            </a:r>
            <a:endParaRPr lang="en-US" sz="727" dirty="0"/>
          </a:p>
        </p:txBody>
      </p:sp>
      <p:sp>
        <p:nvSpPr>
          <p:cNvPr id="29" name="Text 26"/>
          <p:cNvSpPr/>
          <p:nvPr/>
        </p:nvSpPr>
        <p:spPr>
          <a:xfrm>
            <a:off x="3614821" y="3363339"/>
            <a:ext cx="910800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46</a:t>
            </a:r>
            <a:endParaRPr lang="en-US" sz="727" dirty="0"/>
          </a:p>
        </p:txBody>
      </p:sp>
      <p:sp>
        <p:nvSpPr>
          <p:cNvPr id="30" name="Text 27"/>
          <p:cNvSpPr/>
          <p:nvPr/>
        </p:nvSpPr>
        <p:spPr>
          <a:xfrm>
            <a:off x="4525621" y="3363339"/>
            <a:ext cx="1096231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46</a:t>
            </a:r>
            <a:endParaRPr lang="en-US" sz="727" dirty="0"/>
          </a:p>
        </p:txBody>
      </p:sp>
      <p:sp>
        <p:nvSpPr>
          <p:cNvPr id="31" name="Text 28"/>
          <p:cNvSpPr/>
          <p:nvPr/>
        </p:nvSpPr>
        <p:spPr>
          <a:xfrm>
            <a:off x="5621852" y="3363339"/>
            <a:ext cx="2950648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Factual (65%)</a:t>
            </a:r>
            <a:endParaRPr lang="en-US" sz="727" dirty="0"/>
          </a:p>
        </p:txBody>
      </p:sp>
      <p:sp>
        <p:nvSpPr>
          <p:cNvPr id="32" name="Text 29"/>
          <p:cNvSpPr/>
          <p:nvPr/>
        </p:nvSpPr>
        <p:spPr>
          <a:xfrm>
            <a:off x="571500" y="3674092"/>
            <a:ext cx="3043321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Código de Conduta Ética</a:t>
            </a:r>
            <a:endParaRPr lang="en-US" sz="727" dirty="0"/>
          </a:p>
        </p:txBody>
      </p:sp>
      <p:sp>
        <p:nvSpPr>
          <p:cNvPr id="33" name="Text 30"/>
          <p:cNvSpPr/>
          <p:nvPr/>
        </p:nvSpPr>
        <p:spPr>
          <a:xfrm>
            <a:off x="3614821" y="3674092"/>
            <a:ext cx="910800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</a:t>
            </a:r>
            <a:endParaRPr lang="en-US" sz="727" dirty="0"/>
          </a:p>
        </p:txBody>
      </p:sp>
      <p:sp>
        <p:nvSpPr>
          <p:cNvPr id="34" name="Text 31"/>
          <p:cNvSpPr/>
          <p:nvPr/>
        </p:nvSpPr>
        <p:spPr>
          <a:xfrm>
            <a:off x="4525621" y="3674092"/>
            <a:ext cx="1096231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</a:t>
            </a:r>
            <a:endParaRPr lang="en-US" sz="727" dirty="0"/>
          </a:p>
        </p:txBody>
      </p:sp>
      <p:sp>
        <p:nvSpPr>
          <p:cNvPr id="35" name="Text 32"/>
          <p:cNvSpPr/>
          <p:nvPr/>
        </p:nvSpPr>
        <p:spPr>
          <a:xfrm>
            <a:off x="5621852" y="3674092"/>
            <a:ext cx="2950648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Inferencial (54%)</a:t>
            </a:r>
            <a:endParaRPr lang="en-US" sz="727" dirty="0"/>
          </a:p>
        </p:txBody>
      </p:sp>
      <p:sp>
        <p:nvSpPr>
          <p:cNvPr id="36" name="Shape 33"/>
          <p:cNvSpPr/>
          <p:nvPr/>
        </p:nvSpPr>
        <p:spPr>
          <a:xfrm>
            <a:off x="571500" y="3984845"/>
            <a:ext cx="8001000" cy="310753"/>
          </a:xfrm>
          <a:prstGeom prst="rect">
            <a:avLst/>
          </a:prstGeom>
          <a:solidFill>
            <a:srgbClr val="00FF41">
              <a:alpha val="10000"/>
            </a:srgbClr>
          </a:solidFill>
          <a:ln/>
        </p:spPr>
      </p:sp>
      <p:sp>
        <p:nvSpPr>
          <p:cNvPr id="37" name="Text 34"/>
          <p:cNvSpPr/>
          <p:nvPr/>
        </p:nvSpPr>
        <p:spPr>
          <a:xfrm>
            <a:off x="571500" y="3984845"/>
            <a:ext cx="3043321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 ACUMULADO</a:t>
            </a:r>
            <a:endParaRPr lang="en-US" sz="683" dirty="0"/>
          </a:p>
        </p:txBody>
      </p:sp>
      <p:sp>
        <p:nvSpPr>
          <p:cNvPr id="38" name="Text 35"/>
          <p:cNvSpPr/>
          <p:nvPr/>
        </p:nvSpPr>
        <p:spPr>
          <a:xfrm>
            <a:off x="3614821" y="3984845"/>
            <a:ext cx="910800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231</a:t>
            </a:r>
            <a:endParaRPr lang="en-US" sz="683" dirty="0"/>
          </a:p>
        </p:txBody>
      </p:sp>
      <p:sp>
        <p:nvSpPr>
          <p:cNvPr id="39" name="Text 36"/>
          <p:cNvSpPr/>
          <p:nvPr/>
        </p:nvSpPr>
        <p:spPr>
          <a:xfrm>
            <a:off x="4525621" y="3984845"/>
            <a:ext cx="1096231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231</a:t>
            </a:r>
            <a:endParaRPr lang="en-US" sz="683" dirty="0"/>
          </a:p>
        </p:txBody>
      </p:sp>
      <p:sp>
        <p:nvSpPr>
          <p:cNvPr id="40" name="Text 37"/>
          <p:cNvSpPr/>
          <p:nvPr/>
        </p:nvSpPr>
        <p:spPr>
          <a:xfrm>
            <a:off x="5621852" y="3984845"/>
            <a:ext cx="2950648" cy="31075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60% Factual | 40% Inferencial</a:t>
            </a:r>
            <a:endParaRPr lang="en-US" sz="683" dirty="0"/>
          </a:p>
        </p:txBody>
      </p:sp>
      <p:sp>
        <p:nvSpPr>
          <p:cNvPr id="41" name="Text 38"/>
          <p:cNvSpPr/>
          <p:nvPr/>
        </p:nvSpPr>
        <p:spPr>
          <a:xfrm>
            <a:off x="571500" y="4406326"/>
            <a:ext cx="8001000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74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</a:t>
            </a:r>
            <a:r>
              <a:rPr lang="en-US" sz="6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 Questions:</a:t>
            </a:r>
            <a:r>
              <a:rPr lang="en-US" sz="674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Perguntas de alta qualidade com respostas esperadas (ground truth) para validação real do sistema.</a:t>
            </a:r>
            <a:endParaRPr lang="en-US" sz="67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ARQUITETURA E MÉTRICAS DE RECUPERAÇÃO (MMR)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95211"/>
            <a:ext cx="4000500" cy="3443288"/>
          </a:xfrm>
          <a:prstGeom prst="rect">
            <a:avLst/>
          </a:prstGeom>
          <a:solidFill>
            <a:srgbClr val="003B00">
              <a:alpha val="5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293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STACK TECNOLÓGICA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2938" y="1777426"/>
            <a:ext cx="3571875" cy="289322"/>
          </a:xfrm>
          <a:prstGeom prst="rect">
            <a:avLst/>
          </a:prstGeom>
          <a:solidFill>
            <a:srgbClr val="00FF41">
              <a:alpha val="5000"/>
            </a:srgbClr>
          </a:solidFill>
          <a:ln w="9144">
            <a:solidFill>
              <a:srgbClr val="003B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2938" y="1777426"/>
            <a:ext cx="3571875" cy="289322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BACKEND:</a:t>
            </a: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FastAPI (Python 3.12)</a:t>
            </a:r>
            <a:endParaRPr lang="en-US" sz="683" dirty="0"/>
          </a:p>
        </p:txBody>
      </p:sp>
      <p:sp>
        <p:nvSpPr>
          <p:cNvPr id="10" name="Shape 7"/>
          <p:cNvSpPr/>
          <p:nvPr/>
        </p:nvSpPr>
        <p:spPr>
          <a:xfrm>
            <a:off x="642938" y="2123898"/>
            <a:ext cx="3571875" cy="289322"/>
          </a:xfrm>
          <a:prstGeom prst="rect">
            <a:avLst/>
          </a:prstGeom>
          <a:solidFill>
            <a:srgbClr val="00FF41">
              <a:alpha val="5000"/>
            </a:srgbClr>
          </a:solidFill>
          <a:ln w="9144">
            <a:solidFill>
              <a:srgbClr val="003B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2938" y="2123898"/>
            <a:ext cx="3571875" cy="289322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VETORES:</a:t>
            </a: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Qdrant (Vector Store)</a:t>
            </a:r>
            <a:endParaRPr lang="en-US" sz="683" dirty="0"/>
          </a:p>
        </p:txBody>
      </p:sp>
      <p:sp>
        <p:nvSpPr>
          <p:cNvPr id="12" name="Shape 9"/>
          <p:cNvSpPr/>
          <p:nvPr/>
        </p:nvSpPr>
        <p:spPr>
          <a:xfrm>
            <a:off x="642938" y="2470370"/>
            <a:ext cx="3571875" cy="289322"/>
          </a:xfrm>
          <a:prstGeom prst="rect">
            <a:avLst/>
          </a:prstGeom>
          <a:solidFill>
            <a:srgbClr val="00FF41">
              <a:alpha val="5000"/>
            </a:srgbClr>
          </a:solidFill>
          <a:ln w="9144">
            <a:solidFill>
              <a:srgbClr val="003B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938" y="2470370"/>
            <a:ext cx="3571875" cy="289322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DADOS:</a:t>
            </a: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PostgreSQL 16</a:t>
            </a:r>
            <a:endParaRPr lang="en-US" sz="683" dirty="0"/>
          </a:p>
        </p:txBody>
      </p:sp>
      <p:sp>
        <p:nvSpPr>
          <p:cNvPr id="14" name="Shape 11"/>
          <p:cNvSpPr/>
          <p:nvPr/>
        </p:nvSpPr>
        <p:spPr>
          <a:xfrm>
            <a:off x="642938" y="2816842"/>
            <a:ext cx="3571875" cy="289322"/>
          </a:xfrm>
          <a:prstGeom prst="rect">
            <a:avLst/>
          </a:prstGeom>
          <a:solidFill>
            <a:srgbClr val="00FF41">
              <a:alpha val="5000"/>
            </a:srgbClr>
          </a:solidFill>
          <a:ln w="9144">
            <a:solidFill>
              <a:srgbClr val="003B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2938" y="2816842"/>
            <a:ext cx="3571875" cy="289322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LLM:</a:t>
            </a:r>
            <a:r>
              <a:rPr lang="en-US" sz="727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OpenAI (GPT-4o-mini)</a:t>
            </a:r>
            <a:endParaRPr lang="en-US" sz="683" dirty="0"/>
          </a:p>
        </p:txBody>
      </p:sp>
      <p:sp>
        <p:nvSpPr>
          <p:cNvPr id="16" name="Text 13"/>
          <p:cNvSpPr/>
          <p:nvPr/>
        </p:nvSpPr>
        <p:spPr>
          <a:xfrm>
            <a:off x="642938" y="3306189"/>
            <a:ext cx="35718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Infraestrutura conteinerizada com Docker Compose para garantir reprodutibilidade total e isolamento de experimentos.</a:t>
            </a:r>
            <a:endParaRPr lang="en-US" sz="727" dirty="0"/>
          </a:p>
        </p:txBody>
      </p:sp>
      <p:sp>
        <p:nvSpPr>
          <p:cNvPr id="17" name="Shape 14"/>
          <p:cNvSpPr/>
          <p:nvPr/>
        </p:nvSpPr>
        <p:spPr>
          <a:xfrm>
            <a:off x="4714875" y="1195211"/>
            <a:ext cx="4000500" cy="3443288"/>
          </a:xfrm>
          <a:prstGeom prst="rect">
            <a:avLst/>
          </a:prstGeom>
          <a:solidFill>
            <a:srgbClr val="003B00">
              <a:alpha val="5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29188" y="1409523"/>
            <a:ext cx="35718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MMR: DIVERSIDADE NA BUSCA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929188" y="1777426"/>
            <a:ext cx="357187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</a:t>
            </a:r>
            <a:r>
              <a:rPr lang="en-US" sz="885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Maximal Marginal Relevance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balanceia a relevância com </a:t>
            </a:r>
            <a:r>
              <a:rPr lang="en-US" sz="942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diversidade na recuperação dos trechos.</a:t>
            </a:r>
            <a:endParaRPr lang="en-US" sz="942" dirty="0"/>
          </a:p>
        </p:txBody>
      </p:sp>
      <p:sp>
        <p:nvSpPr>
          <p:cNvPr id="20" name="Shape 17"/>
          <p:cNvSpPr/>
          <p:nvPr/>
        </p:nvSpPr>
        <p:spPr>
          <a:xfrm>
            <a:off x="4929188" y="2403174"/>
            <a:ext cx="3571875" cy="98583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FFFFFF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072063" y="2660349"/>
            <a:ext cx="328612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ANALOGIA:</a:t>
            </a:r>
            <a:r>
              <a:rPr lang="en-US" sz="834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É como recomendar livros. Você não </a:t>
            </a:r>
            <a:r>
              <a:rPr lang="en-US" sz="834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quer receber sempre o mesmo tipo, mas uma </a:t>
            </a:r>
            <a:r>
              <a:rPr lang="en-US" sz="834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seleção variada e relevante para evitar </a:t>
            </a:r>
            <a:r>
              <a:rPr lang="en-US" sz="834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redundância.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4929188" y="3474737"/>
            <a:ext cx="35718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Isso garante que o LLM receba diferentes perspectivas do documento, evitando que a resposta fique presa a um único parágrafo repetitivo.</a:t>
            </a:r>
            <a:endParaRPr lang="en-US" sz="727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91660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909461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475478"/>
            <a:ext cx="8715375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RIGOR ESTATÍSTICO: ALÉM DA OPINIÃO</a:t>
            </a:r>
            <a:endParaRPr lang="en-US" sz="1602" dirty="0"/>
          </a:p>
        </p:txBody>
      </p:sp>
      <p:sp>
        <p:nvSpPr>
          <p:cNvPr id="6" name="Shape 3"/>
          <p:cNvSpPr/>
          <p:nvPr/>
        </p:nvSpPr>
        <p:spPr>
          <a:xfrm>
            <a:off x="428625" y="1123773"/>
            <a:ext cx="8286750" cy="2193131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2938" y="1302367"/>
            <a:ext cx="7858125" cy="1696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CONFIABILIDADE E SUSTENTAÇÃO DOS DADOS</a:t>
            </a:r>
            <a:endParaRPr lang="en-US" sz="942" dirty="0"/>
          </a:p>
        </p:txBody>
      </p:sp>
      <p:sp>
        <p:nvSpPr>
          <p:cNvPr id="8" name="Text 5"/>
          <p:cNvSpPr/>
          <p:nvPr/>
        </p:nvSpPr>
        <p:spPr>
          <a:xfrm>
            <a:off x="642938" y="1614906"/>
            <a:ext cx="7858125" cy="777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Esses métodos garantem </a:t>
            </a:r>
            <a:r>
              <a:rPr lang="en-US" sz="8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rigor e confiabilidade estatística</a:t>
            </a:r>
            <a:r>
              <a:rPr lang="en-US" sz="888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O </a:t>
            </a:r>
            <a:r>
              <a:rPr lang="en-US" sz="8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MMR</a:t>
            </a:r>
            <a:r>
              <a:rPr lang="en-US" sz="888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ajuda a evitar redundância, garantindo que os trechos recuperados </a:t>
            </a:r>
            <a:r>
              <a:rPr lang="en-US" sz="888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sejam relevantes e diversos. O teste de </a:t>
            </a:r>
            <a:r>
              <a:rPr lang="en-US" sz="8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Wilcoxon</a:t>
            </a:r>
            <a:r>
              <a:rPr lang="en-US" sz="888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avalia diferenças significativas entre estratégias, mesmo sem pressupor distribuições </a:t>
            </a:r>
            <a:r>
              <a:rPr lang="en-US" sz="888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normais. Já o </a:t>
            </a:r>
            <a:r>
              <a:rPr lang="en-US" sz="8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Holm-Bonferroni</a:t>
            </a:r>
            <a:r>
              <a:rPr lang="en-US" sz="888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evita falsos positivos em múltiplas comparações, ajustando o p-valor. Em conjunto, garantem que a </a:t>
            </a:r>
            <a:r>
              <a:rPr lang="en-US" sz="888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não é apenas qualitativa, mas </a:t>
            </a:r>
            <a:r>
              <a:rPr lang="en-US" sz="8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estatisticamente sustentada</a:t>
            </a:r>
            <a:r>
              <a:rPr lang="en-US" sz="888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88" dirty="0"/>
          </a:p>
        </p:txBody>
      </p:sp>
      <p:sp>
        <p:nvSpPr>
          <p:cNvPr id="9" name="Shape 6"/>
          <p:cNvSpPr/>
          <p:nvPr/>
        </p:nvSpPr>
        <p:spPr>
          <a:xfrm>
            <a:off x="428625" y="3516930"/>
            <a:ext cx="2666991" cy="1121569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FFFFFF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535781" y="3624086"/>
            <a:ext cx="2452678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MMR (LIVROS)</a:t>
            </a:r>
            <a:endParaRPr lang="en-US" sz="621" dirty="0"/>
          </a:p>
        </p:txBody>
      </p:sp>
      <p:sp>
        <p:nvSpPr>
          <p:cNvPr id="11" name="Text 8"/>
          <p:cNvSpPr/>
          <p:nvPr/>
        </p:nvSpPr>
        <p:spPr>
          <a:xfrm>
            <a:off x="535781" y="3829469"/>
            <a:ext cx="2452678" cy="390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7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recomendar livros: você não quer sempre o mesmo tipo, mas uma seleção variada e relevante para evitar redundância.</a:t>
            </a:r>
            <a:endParaRPr lang="en-US" sz="674" dirty="0"/>
          </a:p>
        </p:txBody>
      </p:sp>
      <p:sp>
        <p:nvSpPr>
          <p:cNvPr id="12" name="Shape 9"/>
          <p:cNvSpPr/>
          <p:nvPr/>
        </p:nvSpPr>
        <p:spPr>
          <a:xfrm>
            <a:off x="3238491" y="3516930"/>
            <a:ext cx="2666991" cy="1121569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FFFFFF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3345647" y="3624086"/>
            <a:ext cx="2452678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WILCOXON (FILMES)</a:t>
            </a:r>
            <a:endParaRPr lang="en-US" sz="621" dirty="0"/>
          </a:p>
        </p:txBody>
      </p:sp>
      <p:sp>
        <p:nvSpPr>
          <p:cNvPr id="14" name="Text 11"/>
          <p:cNvSpPr/>
          <p:nvPr/>
        </p:nvSpPr>
        <p:spPr>
          <a:xfrm>
            <a:off x="3345647" y="3829469"/>
            <a:ext cx="2452678" cy="390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7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comparar, em um grupo, se a percepção de dois filmes é realmente diferente, sem depender de opiniões isoladas.</a:t>
            </a:r>
            <a:endParaRPr lang="en-US" sz="674" dirty="0"/>
          </a:p>
        </p:txBody>
      </p:sp>
      <p:sp>
        <p:nvSpPr>
          <p:cNvPr id="15" name="Shape 12"/>
          <p:cNvSpPr/>
          <p:nvPr/>
        </p:nvSpPr>
        <p:spPr>
          <a:xfrm>
            <a:off x="6048356" y="3516930"/>
            <a:ext cx="2667019" cy="1121569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FFFFFF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6155513" y="3624086"/>
            <a:ext cx="2452706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HOLM-BONFERRONI (PROMESSAS)</a:t>
            </a:r>
            <a:endParaRPr lang="en-US" sz="621" dirty="0"/>
          </a:p>
        </p:txBody>
      </p:sp>
      <p:sp>
        <p:nvSpPr>
          <p:cNvPr id="17" name="Text 14"/>
          <p:cNvSpPr/>
          <p:nvPr/>
        </p:nvSpPr>
        <p:spPr>
          <a:xfrm>
            <a:off x="6155513" y="3829469"/>
            <a:ext cx="2452706" cy="390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7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checar várias promessas e garantir que você não caia em falsos positivos ou conclusões precipitadas.</a:t>
            </a:r>
            <a:endParaRPr lang="en-US" sz="674" dirty="0"/>
          </a:p>
        </p:txBody>
      </p:sp>
      <p:sp>
        <p:nvSpPr>
          <p:cNvPr id="18" name="Text 15"/>
          <p:cNvSpPr/>
          <p:nvPr/>
        </p:nvSpPr>
        <p:spPr>
          <a:xfrm>
            <a:off x="428625" y="4838523"/>
            <a:ext cx="8286750" cy="237530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34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DICA DE PRONÚNCIA:</a:t>
            </a:r>
            <a:r>
              <a:rPr lang="en-US" sz="674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Wilcoxon: "uílcok-son" | Holm-Bonferroni: "rolm-bon-ferrôni"</a:t>
            </a:r>
            <a:endParaRPr lang="en-US" sz="67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5001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742866"/>
            <a:ext cx="9144000" cy="7144"/>
          </a:xfrm>
          <a:prstGeom prst="rect">
            <a:avLst/>
          </a:prstGeom>
          <a:solidFill>
            <a:srgbClr val="003B00"/>
          </a:solidFill>
          <a:ln/>
        </p:spPr>
      </p:sp>
      <p:sp>
        <p:nvSpPr>
          <p:cNvPr id="5" name="Text 2"/>
          <p:cNvSpPr/>
          <p:nvPr/>
        </p:nvSpPr>
        <p:spPr>
          <a:xfrm>
            <a:off x="428625" y="380321"/>
            <a:ext cx="8715375" cy="2553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FF4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RESULTADOS E VISÃO ESTRATÉGICA DE FUTURO</a:t>
            </a:r>
            <a:endParaRPr lang="en-US" sz="1397" dirty="0"/>
          </a:p>
        </p:txBody>
      </p:sp>
      <p:sp>
        <p:nvSpPr>
          <p:cNvPr id="6" name="Shape 3"/>
          <p:cNvSpPr/>
          <p:nvPr/>
        </p:nvSpPr>
        <p:spPr>
          <a:xfrm>
            <a:off x="428625" y="885741"/>
            <a:ext cx="2690794" cy="657225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5781" y="957179"/>
            <a:ext cx="2476481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FAITHFULNESS</a:t>
            </a:r>
            <a:endParaRPr lang="en-US" sz="621" dirty="0"/>
          </a:p>
        </p:txBody>
      </p:sp>
      <p:sp>
        <p:nvSpPr>
          <p:cNvPr id="8" name="Text 5"/>
          <p:cNvSpPr/>
          <p:nvPr/>
        </p:nvSpPr>
        <p:spPr>
          <a:xfrm>
            <a:off x="535781" y="1148274"/>
            <a:ext cx="2476481" cy="2042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68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Fidelidade da resposta ao contexto recuperado (evita alucinações).</a:t>
            </a:r>
            <a:endParaRPr lang="en-US" sz="568" dirty="0"/>
          </a:p>
        </p:txBody>
      </p:sp>
      <p:sp>
        <p:nvSpPr>
          <p:cNvPr id="9" name="Shape 6"/>
          <p:cNvSpPr/>
          <p:nvPr/>
        </p:nvSpPr>
        <p:spPr>
          <a:xfrm>
            <a:off x="3226575" y="885741"/>
            <a:ext cx="2690822" cy="657225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33731" y="957179"/>
            <a:ext cx="2476509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 RECALL</a:t>
            </a:r>
            <a:endParaRPr lang="en-US" sz="621" dirty="0"/>
          </a:p>
        </p:txBody>
      </p:sp>
      <p:sp>
        <p:nvSpPr>
          <p:cNvPr id="11" name="Text 8"/>
          <p:cNvSpPr/>
          <p:nvPr/>
        </p:nvSpPr>
        <p:spPr>
          <a:xfrm>
            <a:off x="3333731" y="1148274"/>
            <a:ext cx="2476509" cy="2042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68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de recuperar a informação correta do documento original.</a:t>
            </a:r>
            <a:endParaRPr lang="en-US" sz="568" dirty="0"/>
          </a:p>
        </p:txBody>
      </p:sp>
      <p:sp>
        <p:nvSpPr>
          <p:cNvPr id="12" name="Shape 9"/>
          <p:cNvSpPr/>
          <p:nvPr/>
        </p:nvSpPr>
        <p:spPr>
          <a:xfrm>
            <a:off x="6024553" y="885741"/>
            <a:ext cx="2690794" cy="657225"/>
          </a:xfrm>
          <a:prstGeom prst="rect">
            <a:avLst/>
          </a:prstGeom>
          <a:solidFill>
            <a:srgbClr val="003B00">
              <a:alpha val="10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31709" y="957179"/>
            <a:ext cx="2476481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ANSWER CORRECTNESS</a:t>
            </a:r>
            <a:endParaRPr lang="en-US" sz="621" dirty="0"/>
          </a:p>
        </p:txBody>
      </p:sp>
      <p:sp>
        <p:nvSpPr>
          <p:cNvPr id="14" name="Text 11"/>
          <p:cNvSpPr/>
          <p:nvPr/>
        </p:nvSpPr>
        <p:spPr>
          <a:xfrm>
            <a:off x="6131709" y="1148274"/>
            <a:ext cx="2476481" cy="2042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68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Acurácia da resposta final comparada ao ground truth (Golden Set).</a:t>
            </a:r>
            <a:endParaRPr lang="en-US" sz="568" dirty="0"/>
          </a:p>
        </p:txBody>
      </p:sp>
      <p:sp>
        <p:nvSpPr>
          <p:cNvPr id="15" name="Shape 12"/>
          <p:cNvSpPr/>
          <p:nvPr/>
        </p:nvSpPr>
        <p:spPr>
          <a:xfrm>
            <a:off x="428625" y="1671554"/>
            <a:ext cx="8286750" cy="1693069"/>
          </a:xfrm>
          <a:prstGeom prst="rect">
            <a:avLst/>
          </a:prstGeom>
          <a:solidFill>
            <a:srgbClr val="003B00">
              <a:alpha val="5000"/>
            </a:srgbClr>
          </a:solidFill>
          <a:ln w="9144">
            <a:solidFill>
              <a:srgbClr val="00FF4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" y="1778710"/>
            <a:ext cx="1235729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Estratégia</a:t>
            </a:r>
            <a:endParaRPr lang="en-US" sz="584" dirty="0"/>
          </a:p>
        </p:txBody>
      </p:sp>
      <p:sp>
        <p:nvSpPr>
          <p:cNvPr id="17" name="Text 14"/>
          <p:cNvSpPr/>
          <p:nvPr/>
        </p:nvSpPr>
        <p:spPr>
          <a:xfrm>
            <a:off x="1807229" y="1778710"/>
            <a:ext cx="1539450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Faithfulness</a:t>
            </a:r>
            <a:endParaRPr lang="en-US" sz="584" dirty="0"/>
          </a:p>
        </p:txBody>
      </p:sp>
      <p:sp>
        <p:nvSpPr>
          <p:cNvPr id="18" name="Text 15"/>
          <p:cNvSpPr/>
          <p:nvPr/>
        </p:nvSpPr>
        <p:spPr>
          <a:xfrm>
            <a:off x="3346679" y="1778710"/>
            <a:ext cx="1640691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 Recall</a:t>
            </a:r>
            <a:endParaRPr lang="en-US" sz="584" dirty="0"/>
          </a:p>
        </p:txBody>
      </p:sp>
      <p:sp>
        <p:nvSpPr>
          <p:cNvPr id="19" name="Text 16"/>
          <p:cNvSpPr/>
          <p:nvPr/>
        </p:nvSpPr>
        <p:spPr>
          <a:xfrm>
            <a:off x="4987370" y="1778710"/>
            <a:ext cx="2045624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Answer Correctness</a:t>
            </a:r>
            <a:endParaRPr lang="en-US" sz="584" dirty="0"/>
          </a:p>
        </p:txBody>
      </p:sp>
      <p:sp>
        <p:nvSpPr>
          <p:cNvPr id="20" name="Text 17"/>
          <p:cNvSpPr/>
          <p:nvPr/>
        </p:nvSpPr>
        <p:spPr>
          <a:xfrm>
            <a:off x="7032994" y="1778710"/>
            <a:ext cx="1539506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Status</a:t>
            </a:r>
            <a:endParaRPr lang="en-US" sz="584" dirty="0"/>
          </a:p>
        </p:txBody>
      </p:sp>
      <p:sp>
        <p:nvSpPr>
          <p:cNvPr id="21" name="Text 18"/>
          <p:cNvSpPr/>
          <p:nvPr/>
        </p:nvSpPr>
        <p:spPr>
          <a:xfrm>
            <a:off x="571500" y="2012668"/>
            <a:ext cx="1235729" cy="237530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Fixed-Size</a:t>
            </a:r>
            <a:endParaRPr lang="en-US" sz="621" dirty="0"/>
          </a:p>
        </p:txBody>
      </p:sp>
      <p:sp>
        <p:nvSpPr>
          <p:cNvPr id="22" name="Text 19"/>
          <p:cNvSpPr/>
          <p:nvPr/>
        </p:nvSpPr>
        <p:spPr>
          <a:xfrm>
            <a:off x="1807229" y="2012668"/>
            <a:ext cx="1539450" cy="237530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1,000 (0,317)</a:t>
            </a:r>
            <a:endParaRPr lang="en-US" sz="621" dirty="0"/>
          </a:p>
        </p:txBody>
      </p:sp>
      <p:sp>
        <p:nvSpPr>
          <p:cNvPr id="23" name="Text 20"/>
          <p:cNvSpPr/>
          <p:nvPr/>
        </p:nvSpPr>
        <p:spPr>
          <a:xfrm>
            <a:off x="3346679" y="2012668"/>
            <a:ext cx="1640691" cy="237530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1,000 (1,000)</a:t>
            </a:r>
            <a:endParaRPr lang="en-US" sz="621" dirty="0"/>
          </a:p>
        </p:txBody>
      </p:sp>
      <p:sp>
        <p:nvSpPr>
          <p:cNvPr id="24" name="Text 21"/>
          <p:cNvSpPr/>
          <p:nvPr/>
        </p:nvSpPr>
        <p:spPr>
          <a:xfrm>
            <a:off x="4987370" y="2012668"/>
            <a:ext cx="2045624" cy="237530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0,638 (0,555)</a:t>
            </a:r>
            <a:endParaRPr lang="en-US" sz="621" dirty="0"/>
          </a:p>
        </p:txBody>
      </p:sp>
      <p:sp>
        <p:nvSpPr>
          <p:cNvPr id="25" name="Text 22"/>
          <p:cNvSpPr/>
          <p:nvPr/>
        </p:nvSpPr>
        <p:spPr>
          <a:xfrm>
            <a:off x="7032994" y="2012668"/>
            <a:ext cx="1539506" cy="237530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Baseline</a:t>
            </a:r>
            <a:endParaRPr lang="en-US" sz="621" dirty="0"/>
          </a:p>
        </p:txBody>
      </p:sp>
      <p:sp>
        <p:nvSpPr>
          <p:cNvPr id="26" name="Text 23"/>
          <p:cNvSpPr/>
          <p:nvPr/>
        </p:nvSpPr>
        <p:spPr>
          <a:xfrm>
            <a:off x="571500" y="2250198"/>
            <a:ext cx="1235729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Recursive</a:t>
            </a:r>
            <a:endParaRPr lang="en-US" sz="621" dirty="0"/>
          </a:p>
        </p:txBody>
      </p:sp>
      <p:sp>
        <p:nvSpPr>
          <p:cNvPr id="27" name="Text 24"/>
          <p:cNvSpPr/>
          <p:nvPr/>
        </p:nvSpPr>
        <p:spPr>
          <a:xfrm>
            <a:off x="1807229" y="2250198"/>
            <a:ext cx="1539450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1,000 (0,167)</a:t>
            </a:r>
            <a:endParaRPr lang="en-US" sz="621" dirty="0"/>
          </a:p>
        </p:txBody>
      </p:sp>
      <p:sp>
        <p:nvSpPr>
          <p:cNvPr id="28" name="Text 25"/>
          <p:cNvSpPr/>
          <p:nvPr/>
        </p:nvSpPr>
        <p:spPr>
          <a:xfrm>
            <a:off x="3346679" y="2250198"/>
            <a:ext cx="1640691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1,000 (1,000)</a:t>
            </a:r>
            <a:endParaRPr lang="en-US" sz="621" dirty="0"/>
          </a:p>
        </p:txBody>
      </p:sp>
      <p:sp>
        <p:nvSpPr>
          <p:cNvPr id="29" name="Text 26"/>
          <p:cNvSpPr/>
          <p:nvPr/>
        </p:nvSpPr>
        <p:spPr>
          <a:xfrm>
            <a:off x="4987370" y="2250198"/>
            <a:ext cx="2045624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0,651 (0,532)</a:t>
            </a:r>
            <a:endParaRPr lang="en-US" sz="621" dirty="0"/>
          </a:p>
        </p:txBody>
      </p:sp>
      <p:sp>
        <p:nvSpPr>
          <p:cNvPr id="30" name="Text 27"/>
          <p:cNvSpPr/>
          <p:nvPr/>
        </p:nvSpPr>
        <p:spPr>
          <a:xfrm>
            <a:off x="7032994" y="2250198"/>
            <a:ext cx="1539506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Competitivo</a:t>
            </a:r>
            <a:endParaRPr lang="en-US" sz="621" dirty="0"/>
          </a:p>
        </p:txBody>
      </p:sp>
      <p:sp>
        <p:nvSpPr>
          <p:cNvPr id="31" name="Shape 28"/>
          <p:cNvSpPr/>
          <p:nvPr/>
        </p:nvSpPr>
        <p:spPr>
          <a:xfrm>
            <a:off x="571500" y="2484155"/>
            <a:ext cx="8001000" cy="233958"/>
          </a:xfrm>
          <a:prstGeom prst="rect">
            <a:avLst/>
          </a:prstGeom>
          <a:solidFill>
            <a:srgbClr val="00FF41">
              <a:alpha val="15000"/>
            </a:srgbClr>
          </a:solidFill>
          <a:ln/>
        </p:spPr>
      </p:sp>
      <p:sp>
        <p:nvSpPr>
          <p:cNvPr id="32" name="Text 29"/>
          <p:cNvSpPr/>
          <p:nvPr/>
        </p:nvSpPr>
        <p:spPr>
          <a:xfrm>
            <a:off x="571500" y="2484155"/>
            <a:ext cx="1235729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Sentence</a:t>
            </a:r>
            <a:endParaRPr lang="en-US" sz="584" dirty="0"/>
          </a:p>
        </p:txBody>
      </p:sp>
      <p:sp>
        <p:nvSpPr>
          <p:cNvPr id="33" name="Text 30"/>
          <p:cNvSpPr/>
          <p:nvPr/>
        </p:nvSpPr>
        <p:spPr>
          <a:xfrm>
            <a:off x="1807229" y="2484155"/>
            <a:ext cx="1539450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1,000 (0,175)</a:t>
            </a:r>
            <a:endParaRPr lang="en-US" sz="584" dirty="0"/>
          </a:p>
        </p:txBody>
      </p:sp>
      <p:sp>
        <p:nvSpPr>
          <p:cNvPr id="34" name="Text 31"/>
          <p:cNvSpPr/>
          <p:nvPr/>
        </p:nvSpPr>
        <p:spPr>
          <a:xfrm>
            <a:off x="3346679" y="2484155"/>
            <a:ext cx="1640691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1,000 (0,000)</a:t>
            </a:r>
            <a:endParaRPr lang="en-US" sz="584" dirty="0"/>
          </a:p>
        </p:txBody>
      </p:sp>
      <p:sp>
        <p:nvSpPr>
          <p:cNvPr id="35" name="Text 32"/>
          <p:cNvSpPr/>
          <p:nvPr/>
        </p:nvSpPr>
        <p:spPr>
          <a:xfrm>
            <a:off x="4987370" y="2484155"/>
            <a:ext cx="2045624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0,679 (0,470)</a:t>
            </a:r>
            <a:endParaRPr lang="en-US" sz="584" dirty="0"/>
          </a:p>
        </p:txBody>
      </p:sp>
      <p:sp>
        <p:nvSpPr>
          <p:cNvPr id="36" name="Text 33"/>
          <p:cNvSpPr/>
          <p:nvPr/>
        </p:nvSpPr>
        <p:spPr>
          <a:xfrm>
            <a:off x="7032994" y="2484155"/>
            <a:ext cx="1539506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VENCEDOR</a:t>
            </a:r>
            <a:endParaRPr lang="en-US" sz="584" dirty="0"/>
          </a:p>
        </p:txBody>
      </p:sp>
      <p:sp>
        <p:nvSpPr>
          <p:cNvPr id="37" name="Text 34"/>
          <p:cNvSpPr/>
          <p:nvPr/>
        </p:nvSpPr>
        <p:spPr>
          <a:xfrm>
            <a:off x="571500" y="2718113"/>
            <a:ext cx="1235729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Semantic</a:t>
            </a:r>
            <a:endParaRPr lang="en-US" sz="621" dirty="0"/>
          </a:p>
        </p:txBody>
      </p:sp>
      <p:sp>
        <p:nvSpPr>
          <p:cNvPr id="38" name="Text 35"/>
          <p:cNvSpPr/>
          <p:nvPr/>
        </p:nvSpPr>
        <p:spPr>
          <a:xfrm>
            <a:off x="1807229" y="2718113"/>
            <a:ext cx="1539450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1,000 (0,200)</a:t>
            </a:r>
            <a:endParaRPr lang="en-US" sz="621" dirty="0"/>
          </a:p>
        </p:txBody>
      </p:sp>
      <p:sp>
        <p:nvSpPr>
          <p:cNvPr id="39" name="Text 36"/>
          <p:cNvSpPr/>
          <p:nvPr/>
        </p:nvSpPr>
        <p:spPr>
          <a:xfrm>
            <a:off x="3346679" y="2718113"/>
            <a:ext cx="1640691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1,000 (0,125)</a:t>
            </a:r>
            <a:endParaRPr lang="en-US" sz="621" dirty="0"/>
          </a:p>
        </p:txBody>
      </p:sp>
      <p:sp>
        <p:nvSpPr>
          <p:cNvPr id="40" name="Text 37"/>
          <p:cNvSpPr/>
          <p:nvPr/>
        </p:nvSpPr>
        <p:spPr>
          <a:xfrm>
            <a:off x="4987370" y="2718113"/>
            <a:ext cx="2045624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0,609 (0,508)</a:t>
            </a:r>
            <a:endParaRPr lang="en-US" sz="621" dirty="0"/>
          </a:p>
        </p:txBody>
      </p:sp>
      <p:sp>
        <p:nvSpPr>
          <p:cNvPr id="41" name="Text 38"/>
          <p:cNvSpPr/>
          <p:nvPr/>
        </p:nvSpPr>
        <p:spPr>
          <a:xfrm>
            <a:off x="7032994" y="2718113"/>
            <a:ext cx="1539506" cy="233958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ctr">
            <a:spAutoFit/>
          </a:bodyPr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21" dirty="0">
                <a:solidFill>
                  <a:srgbClr val="E0E0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Inconsistente</a:t>
            </a:r>
            <a:endParaRPr lang="en-US" sz="621" dirty="0"/>
          </a:p>
        </p:txBody>
      </p:sp>
      <p:sp>
        <p:nvSpPr>
          <p:cNvPr id="42" name="Text 39"/>
          <p:cNvSpPr/>
          <p:nvPr/>
        </p:nvSpPr>
        <p:spPr>
          <a:xfrm>
            <a:off x="571500" y="3027080"/>
            <a:ext cx="80010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A estratégia </a:t>
            </a:r>
            <a:r>
              <a:rPr lang="en-US" sz="5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Sentence</a:t>
            </a:r>
            <a:r>
              <a:rPr lang="en-US" sz="568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obteve superioridade estatística (p &lt; 0,05) em Context Recall e Answer Correctness.</a:t>
            </a:r>
            <a:endParaRPr lang="en-US" sz="568" dirty="0"/>
          </a:p>
        </p:txBody>
      </p:sp>
      <p:sp>
        <p:nvSpPr>
          <p:cNvPr id="43" name="Shape 40"/>
          <p:cNvSpPr/>
          <p:nvPr/>
        </p:nvSpPr>
        <p:spPr>
          <a:xfrm>
            <a:off x="428625" y="3493210"/>
            <a:ext cx="3257550" cy="144303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71500" y="3636085"/>
            <a:ext cx="2971800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BACKLOG DE PESQUISA</a:t>
            </a:r>
            <a:endParaRPr lang="en-US" sz="727" dirty="0"/>
          </a:p>
        </p:txBody>
      </p:sp>
      <p:sp>
        <p:nvSpPr>
          <p:cNvPr id="45" name="Text 42"/>
          <p:cNvSpPr/>
          <p:nvPr/>
        </p:nvSpPr>
        <p:spPr>
          <a:xfrm>
            <a:off x="857250" y="3875401"/>
            <a:ext cx="2686050" cy="13001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Chunking:</a:t>
            </a:r>
            <a:r>
              <a:rPr lang="en-US" sz="67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Segmentação dinâmica.</a:t>
            </a:r>
            <a:endParaRPr lang="en-US" sz="634" dirty="0"/>
          </a:p>
        </p:txBody>
      </p:sp>
      <p:sp>
        <p:nvSpPr>
          <p:cNvPr id="46" name="Text 43"/>
          <p:cNvSpPr/>
          <p:nvPr/>
        </p:nvSpPr>
        <p:spPr>
          <a:xfrm>
            <a:off x="857250" y="4062561"/>
            <a:ext cx="2686050" cy="13001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Interaction:</a:t>
            </a:r>
            <a:r>
              <a:rPr lang="en-US" sz="67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Recuperação por token.</a:t>
            </a:r>
            <a:endParaRPr lang="en-US" sz="634" dirty="0"/>
          </a:p>
        </p:txBody>
      </p:sp>
      <p:sp>
        <p:nvSpPr>
          <p:cNvPr id="47" name="Text 44"/>
          <p:cNvSpPr/>
          <p:nvPr/>
        </p:nvSpPr>
        <p:spPr>
          <a:xfrm>
            <a:off x="857250" y="4249722"/>
            <a:ext cx="2686050" cy="13001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Search:</a:t>
            </a:r>
            <a:r>
              <a:rPr lang="en-US" sz="67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BM25 + Vetorial.</a:t>
            </a:r>
            <a:endParaRPr lang="en-US" sz="634" dirty="0"/>
          </a:p>
        </p:txBody>
      </p:sp>
      <p:sp>
        <p:nvSpPr>
          <p:cNvPr id="48" name="Text 45"/>
          <p:cNvSpPr/>
          <p:nvPr/>
        </p:nvSpPr>
        <p:spPr>
          <a:xfrm>
            <a:off x="857250" y="4436883"/>
            <a:ext cx="2686050" cy="130011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34" b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Modelos Locais:</a:t>
            </a:r>
            <a:r>
              <a:rPr lang="en-US" sz="674" dirty="0">
                <a:solidFill>
                  <a:srgbClr val="E0E0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LLaMA 3 / Soberania.</a:t>
            </a:r>
            <a:endParaRPr lang="en-US" sz="634" dirty="0"/>
          </a:p>
        </p:txBody>
      </p:sp>
      <p:sp>
        <p:nvSpPr>
          <p:cNvPr id="49" name="Shape 46"/>
          <p:cNvSpPr/>
          <p:nvPr/>
        </p:nvSpPr>
        <p:spPr>
          <a:xfrm>
            <a:off x="3829050" y="3493210"/>
            <a:ext cx="4886325" cy="1443038"/>
          </a:xfrm>
          <a:prstGeom prst="rect">
            <a:avLst/>
          </a:prstGeom>
          <a:solidFill>
            <a:srgbClr val="FFFFFF">
              <a:alpha val="2000"/>
            </a:srgbClr>
          </a:solidFill>
          <a:ln w="9144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57250" y="3875401"/>
            <a:ext cx="60722" cy="1299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74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</a:t>
            </a:r>
            <a:endParaRPr lang="en-US" sz="674" dirty="0"/>
          </a:p>
        </p:txBody>
      </p:sp>
      <p:sp>
        <p:nvSpPr>
          <p:cNvPr id="51" name="Text 48"/>
          <p:cNvSpPr/>
          <p:nvPr/>
        </p:nvSpPr>
        <p:spPr>
          <a:xfrm>
            <a:off x="857250" y="4062561"/>
            <a:ext cx="60722" cy="1299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74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</a:t>
            </a:r>
            <a:endParaRPr lang="en-US" sz="674" dirty="0"/>
          </a:p>
        </p:txBody>
      </p:sp>
      <p:sp>
        <p:nvSpPr>
          <p:cNvPr id="52" name="Text 49"/>
          <p:cNvSpPr/>
          <p:nvPr/>
        </p:nvSpPr>
        <p:spPr>
          <a:xfrm>
            <a:off x="857250" y="4249722"/>
            <a:ext cx="60722" cy="1299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74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</a:t>
            </a:r>
            <a:endParaRPr lang="en-US" sz="674" dirty="0"/>
          </a:p>
        </p:txBody>
      </p:sp>
      <p:sp>
        <p:nvSpPr>
          <p:cNvPr id="53" name="Text 50"/>
          <p:cNvSpPr/>
          <p:nvPr/>
        </p:nvSpPr>
        <p:spPr>
          <a:xfrm>
            <a:off x="857250" y="4436883"/>
            <a:ext cx="60722" cy="1299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74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</a:t>
            </a:r>
            <a:endParaRPr lang="en-US" sz="674" dirty="0"/>
          </a:p>
        </p:txBody>
      </p:sp>
      <p:sp>
        <p:nvSpPr>
          <p:cNvPr id="54" name="Text 51"/>
          <p:cNvSpPr/>
          <p:nvPr/>
        </p:nvSpPr>
        <p:spPr>
          <a:xfrm>
            <a:off x="3971925" y="3636085"/>
            <a:ext cx="4600575" cy="132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VISÃO ESTRATÉGICA</a:t>
            </a:r>
            <a:endParaRPr lang="en-US" sz="727" dirty="0"/>
          </a:p>
        </p:txBody>
      </p:sp>
      <p:sp>
        <p:nvSpPr>
          <p:cNvPr id="55" name="Text 52"/>
          <p:cNvSpPr/>
          <p:nvPr/>
        </p:nvSpPr>
        <p:spPr>
          <a:xfrm>
            <a:off x="3971925" y="3882544"/>
            <a:ext cx="46005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"Transformar documentos estáticos em </a:t>
            </a:r>
            <a:r>
              <a:rPr lang="en-US" sz="784" b="1" i="1" dirty="0">
                <a:solidFill>
                  <a:srgbClr val="00FF4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bases de conhecimento dinâmicas</a:t>
            </a:r>
            <a:r>
              <a:rPr lang="en-US" sz="834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é o </a:t>
            </a:r>
            <a:r>
              <a:rPr lang="en-US" sz="834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alicerce para uma gestão de Ciência e Tecnologia mais ágil e inteligente no Brasil."</a:t>
            </a:r>
            <a:endParaRPr lang="en-US" sz="834" dirty="0"/>
          </a:p>
        </p:txBody>
      </p:sp>
      <p:sp>
        <p:nvSpPr>
          <p:cNvPr id="56" name="Text 53"/>
          <p:cNvSpPr/>
          <p:nvPr/>
        </p:nvSpPr>
        <p:spPr>
          <a:xfrm>
            <a:off x="3971925" y="4368319"/>
            <a:ext cx="4600575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lnSpc>
                <a:spcPts val="700"/>
              </a:lnSpc>
              <a:buNone/>
            </a:pPr>
            <a:r>
              <a:rPr lang="en-US" sz="568" dirty="0">
                <a:solidFill>
                  <a:srgbClr val="00FF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SISTEMA DE AVALIAÇÃO COMPARATIVA v4.0 | EQUIPE 7</a:t>
            </a:r>
            <a:endParaRPr lang="en-US" sz="56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2026-04-13T13:30:12Z</dcterms:created>
  <dcterms:modified xsi:type="dcterms:W3CDTF">2026-04-13T13:30:12Z</dcterms:modified>
</cp:coreProperties>
</file>